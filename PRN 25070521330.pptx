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embeddedFontLst>
    <p:embeddedFont>
      <p:font typeface="Consolas" panose="020B0609020204030204" pitchFamily="49" charset="0"/>
      <p:regular r:id="rId14"/>
      <p:bold r:id="rId15"/>
      <p:italic r:id="rId16"/>
      <p:boldItalic r:id="rId17"/>
    </p:embeddedFont>
    <p:embeddedFont>
      <p:font typeface="Exo" panose="020B0604020202020204" charset="0"/>
      <p:regular r:id="rId18"/>
    </p:embeddedFont>
    <p:embeddedFont>
      <p:font typeface="Exo Bold" panose="020B0604020202020204" charset="0"/>
      <p:regular r:id="rId19"/>
    </p:embeddedFont>
    <p:embeddedFont>
      <p:font typeface="Exo SemiBold" panose="020B0604020202020204" charset="0"/>
      <p:regular r:id="rId20"/>
    </p:embeddedFont>
    <p:embeddedFont>
      <p:font typeface="Fira Mono" panose="020B0509050000020004" pitchFamily="49" charset="0"/>
      <p:regular r:id="rId21"/>
    </p:embeddedFont>
    <p:embeddedFont>
      <p:font typeface="Fira Mono Medium" panose="020B0609050000020004" pitchFamily="49" charset="0"/>
      <p:regular r:id="rId22"/>
    </p:embeddedFont>
    <p:embeddedFont>
      <p:font typeface="Michroma" panose="020B0604020202020204" charset="0"/>
      <p:regular r:id="rId23"/>
    </p:embeddedFont>
    <p:embeddedFont>
      <p:font typeface="MuseoModerno Bold" panose="020B0604020202020204" charset="0"/>
      <p:regular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5199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turn a routing problem into a graph problem, compare exhaustive search with branch and bound, and see why the same exact answer can require very different amounts of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Fixing the start city removes rotational duplicates. The remaining challenge is ordering every other city while keeping the total distance, time, or cost as small as possible.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abstraction is simple: cities become vertices, possible journeys become edges, and each edge carries a weight. A valid TSP solution is a Hamiltonian cycle: every vertex appears once, then the route returns to its start.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compare complete tours directly. The first candidate totals 80; the second totals 95. The highlighted cycle is the optimum for this four-city instance.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Fixing A removes rotational duplicates, leaving (n−1)! directed tours. With symmetric distances, a route and its reverse have the same cost, so only half remain unique. The factorial curve becomes the central obstacle.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Brute force is the reference algorithm. It cannot miss the optimum because it evaluates every complete candidate, but its factorial number of tours makes the method expensive as n grows.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Branching creates candidate partial routes. Bounding asks whether any completion of a partial route could beat the best complete tour already found. If the lower bound is at least the incumbent, the entire subtree can be discarded without changing the answer.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priority queue expands the most promising node first. The bound combines unavoidable costs: the current route, an MST over remaining cities, and the two endpoint connectors needed to complete the cycle.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Brute force must inspect every unique tour. Branch and bound may discover the 80 tour early, then use it as the incumbent. Any partial route whose lower bound is at least 80 cannot improve the answer and is safely pruned.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distinction matters: branch and bound is exact, but it does not become polynomial-time. Its practical effort depends on the bound, the order in which cities are explored, and the structure of the instance. The same pattern appears in logistics, manufacturing, drilling, inspection, and service routing.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invite questions, and open the floor for discussion on the routing problem and branch and bound.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5050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p:cNvPicPr>
            <a:picLocks noChangeAspect="1"/>
          </p:cNvPicPr>
          <p:nvPr/>
        </p:nvPicPr>
        <p:blipFill>
          <a:blip r:embed="rId3"/>
          <a:stretch>
            <a:fillRect/>
          </a:stretch>
        </p:blipFill>
        <p:spPr>
          <a:xfrm>
            <a:off x="0" y="0"/>
            <a:ext cx="12191695" cy="6858000"/>
          </a:xfrm>
          <a:prstGeom prst="rect">
            <a:avLst/>
          </a:prstGeom>
        </p:spPr>
      </p:pic>
      <p:pic>
        <p:nvPicPr>
          <p:cNvPr id="4"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50505"/>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3407" y="1424622"/>
            <a:ext cx="8134147"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FFFFFF"/>
                </a:solidFill>
                <a:latin typeface="Fira Mono Medium" pitchFamily="34" charset="0"/>
                <a:ea typeface="Fira Mono Medium" pitchFamily="34" charset="-122"/>
                <a:cs typeface="Fira Mono Medium" pitchFamily="34" charset="-120"/>
              </a:rPr>
              <a:t>DESIGN AND ANALYSIS OF ALGORITHMS</a:t>
            </a:r>
            <a:endParaRPr lang="en-US" sz="1100" dirty="0"/>
          </a:p>
        </p:txBody>
      </p:sp>
      <p:sp>
        <p:nvSpPr>
          <p:cNvPr id="3" name="Text 1"/>
          <p:cNvSpPr/>
          <p:nvPr/>
        </p:nvSpPr>
        <p:spPr>
          <a:xfrm>
            <a:off x="733407" y="1724366"/>
            <a:ext cx="7524562" cy="1195784"/>
          </a:xfrm>
          <a:prstGeom prst="rect">
            <a:avLst/>
          </a:prstGeom>
          <a:noFill/>
          <a:ln/>
        </p:spPr>
        <p:txBody>
          <a:bodyPr wrap="square" lIns="0" tIns="0" rIns="0" bIns="0" rtlCol="0" anchor="t">
            <a:normAutofit lnSpcReduction="10000"/>
          </a:bodyPr>
          <a:lstStyle/>
          <a:p>
            <a:pPr marL="0" indent="0" algn="l">
              <a:lnSpc>
                <a:spcPct val="89000"/>
              </a:lnSpc>
              <a:buNone/>
            </a:pPr>
            <a:r>
              <a:rPr lang="en-US" sz="4400" kern="100" spc="-53" dirty="0">
                <a:solidFill>
                  <a:srgbClr val="FFFFFF"/>
                </a:solidFill>
                <a:latin typeface="Exo SemiBold" pitchFamily="34" charset="0"/>
                <a:ea typeface="Exo SemiBold" pitchFamily="34" charset="-122"/>
                <a:cs typeface="Exo SemiBold" pitchFamily="34" charset="-120"/>
              </a:rPr>
              <a:t>Travelling Salesman</a:t>
            </a:r>
            <a:endParaRPr lang="en-US" sz="4400" dirty="0"/>
          </a:p>
          <a:p>
            <a:pPr marL="0" indent="0" algn="l">
              <a:lnSpc>
                <a:spcPct val="89000"/>
              </a:lnSpc>
              <a:buNone/>
            </a:pPr>
            <a:r>
              <a:rPr lang="en-US" sz="4400" kern="100" spc="-53" dirty="0">
                <a:solidFill>
                  <a:srgbClr val="FFFFFF"/>
                </a:solidFill>
                <a:latin typeface="Exo SemiBold" pitchFamily="34" charset="0"/>
                <a:ea typeface="Exo SemiBold" pitchFamily="34" charset="-122"/>
                <a:cs typeface="Exo SemiBold" pitchFamily="34" charset="-120"/>
              </a:rPr>
              <a:t>Problem</a:t>
            </a:r>
            <a:endParaRPr lang="en-US" sz="4400" dirty="0"/>
          </a:p>
        </p:txBody>
      </p:sp>
      <p:sp>
        <p:nvSpPr>
          <p:cNvPr id="4" name="Shape 2"/>
          <p:cNvSpPr/>
          <p:nvPr/>
        </p:nvSpPr>
        <p:spPr>
          <a:xfrm>
            <a:off x="733407" y="3122017"/>
            <a:ext cx="1881140" cy="31651"/>
          </a:xfrm>
          <a:prstGeom prst="roundRect">
            <a:avLst>
              <a:gd name="adj" fmla="val 49998"/>
            </a:avLst>
          </a:prstGeom>
          <a:solidFill>
            <a:srgbClr val="9BE1FF"/>
          </a:solidFill>
          <a:ln/>
        </p:spPr>
      </p:sp>
      <p:sp>
        <p:nvSpPr>
          <p:cNvPr id="5" name="Text 3"/>
          <p:cNvSpPr/>
          <p:nvPr/>
        </p:nvSpPr>
        <p:spPr>
          <a:xfrm>
            <a:off x="733407" y="3537688"/>
            <a:ext cx="7524562" cy="318492"/>
          </a:xfrm>
          <a:prstGeom prst="rect">
            <a:avLst/>
          </a:prstGeom>
          <a:noFill/>
          <a:ln/>
        </p:spPr>
        <p:txBody>
          <a:bodyPr wrap="none" lIns="0" tIns="0" rIns="0" bIns="0" rtlCol="0" anchor="t"/>
          <a:lstStyle/>
          <a:p>
            <a:pPr marL="0" indent="0" algn="l">
              <a:lnSpc>
                <a:spcPct val="110000"/>
              </a:lnSpc>
              <a:buNone/>
            </a:pPr>
            <a:r>
              <a:rPr lang="en-US" sz="1900" dirty="0">
                <a:solidFill>
                  <a:srgbClr val="FFFFFF"/>
                </a:solidFill>
                <a:latin typeface="Exo" pitchFamily="34" charset="0"/>
                <a:ea typeface="Exo" pitchFamily="34" charset="-122"/>
                <a:cs typeface="Exo" pitchFamily="34" charset="-120"/>
              </a:rPr>
              <a:t>Finding the optimal route</a:t>
            </a:r>
            <a:endParaRPr lang="en-US" sz="1900" dirty="0"/>
          </a:p>
        </p:txBody>
      </p:sp>
      <p:sp>
        <p:nvSpPr>
          <p:cNvPr id="6" name="Text 4"/>
          <p:cNvSpPr/>
          <p:nvPr/>
        </p:nvSpPr>
        <p:spPr>
          <a:xfrm>
            <a:off x="733407" y="4978400"/>
            <a:ext cx="5848204" cy="270470"/>
          </a:xfrm>
          <a:prstGeom prst="rect">
            <a:avLst/>
          </a:prstGeom>
          <a:noFill/>
          <a:ln/>
        </p:spPr>
        <p:txBody>
          <a:bodyPr wrap="none" lIns="0" tIns="0" rIns="0" bIns="0" rtlCol="0" anchor="t"/>
          <a:lstStyle/>
          <a:p>
            <a:pPr marL="0" indent="0" algn="l">
              <a:lnSpc>
                <a:spcPct val="118000"/>
              </a:lnSpc>
              <a:buNone/>
            </a:pPr>
            <a:r>
              <a:rPr lang="en-US" sz="1500" dirty="0">
                <a:solidFill>
                  <a:srgbClr val="FFFFFF"/>
                </a:solidFill>
                <a:latin typeface="Exo" pitchFamily="34" charset="0"/>
                <a:ea typeface="Exo" pitchFamily="34" charset="-122"/>
                <a:cs typeface="Exo" pitchFamily="34" charset="-120"/>
              </a:rPr>
              <a:t>Name: Harshita Kanwar</a:t>
            </a:r>
            <a:endParaRPr lang="en-US" sz="1500" dirty="0"/>
          </a:p>
        </p:txBody>
      </p:sp>
      <p:sp>
        <p:nvSpPr>
          <p:cNvPr id="7" name="Text 5"/>
          <p:cNvSpPr/>
          <p:nvPr/>
        </p:nvSpPr>
        <p:spPr>
          <a:xfrm>
            <a:off x="733407" y="5435600"/>
            <a:ext cx="5848204" cy="270470"/>
          </a:xfrm>
          <a:prstGeom prst="rect">
            <a:avLst/>
          </a:prstGeom>
          <a:noFill/>
          <a:ln/>
        </p:spPr>
        <p:txBody>
          <a:bodyPr wrap="none" lIns="0" tIns="0" rIns="0" bIns="0" rtlCol="0" anchor="t"/>
          <a:lstStyle/>
          <a:p>
            <a:pPr marL="0" indent="0" algn="l">
              <a:lnSpc>
                <a:spcPct val="118000"/>
              </a:lnSpc>
              <a:buNone/>
            </a:pPr>
            <a:r>
              <a:rPr lang="en-US" sz="1500" dirty="0">
                <a:solidFill>
                  <a:srgbClr val="FFFFFF"/>
                </a:solidFill>
                <a:latin typeface="Exo" pitchFamily="34" charset="0"/>
                <a:ea typeface="Exo" pitchFamily="34" charset="-122"/>
                <a:cs typeface="Exo" pitchFamily="34" charset="-120"/>
              </a:rPr>
              <a:t>PRN: 25070521330</a:t>
            </a:r>
            <a:endParaRPr lang="en-US" sz="1500" dirty="0"/>
          </a:p>
        </p:txBody>
      </p:sp>
      <p:sp>
        <p:nvSpPr>
          <p:cNvPr id="8" name="Text 6"/>
          <p:cNvSpPr/>
          <p:nvPr/>
        </p:nvSpPr>
        <p:spPr>
          <a:xfrm>
            <a:off x="733407" y="5892800"/>
            <a:ext cx="5848204" cy="270470"/>
          </a:xfrm>
          <a:prstGeom prst="rect">
            <a:avLst/>
          </a:prstGeom>
          <a:noFill/>
          <a:ln/>
        </p:spPr>
        <p:txBody>
          <a:bodyPr wrap="none" lIns="0" tIns="0" rIns="0" bIns="0" rtlCol="0" anchor="t"/>
          <a:lstStyle/>
          <a:p>
            <a:pPr marL="0" indent="0" algn="l">
              <a:lnSpc>
                <a:spcPct val="118000"/>
              </a:lnSpc>
              <a:buNone/>
            </a:pPr>
            <a:r>
              <a:rPr lang="en-US" sz="1500" dirty="0">
                <a:solidFill>
                  <a:srgbClr val="FFFFFF"/>
                </a:solidFill>
                <a:latin typeface="Exo" pitchFamily="34" charset="0"/>
                <a:ea typeface="Exo" pitchFamily="34" charset="-122"/>
                <a:cs typeface="Exo" pitchFamily="34" charset="-120"/>
              </a:rPr>
              <a:t>Section: C</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133290"/>
            <a:ext cx="6705432"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B5B5B5"/>
                </a:solidFill>
                <a:latin typeface="Fira Mono Medium" pitchFamily="34" charset="0"/>
                <a:ea typeface="Fira Mono Medium" pitchFamily="34" charset="-122"/>
                <a:cs typeface="Fira Mono Medium" pitchFamily="34" charset="-120"/>
              </a:rPr>
              <a:t>THE PROBLEM</a:t>
            </a:r>
            <a:endParaRPr lang="en-US" sz="1100" dirty="0"/>
          </a:p>
        </p:txBody>
      </p:sp>
      <p:sp>
        <p:nvSpPr>
          <p:cNvPr id="3" name="Text 1"/>
          <p:cNvSpPr/>
          <p:nvPr/>
        </p:nvSpPr>
        <p:spPr>
          <a:xfrm>
            <a:off x="609585" y="433034"/>
            <a:ext cx="6095848" cy="1195784"/>
          </a:xfrm>
          <a:prstGeom prst="rect">
            <a:avLst/>
          </a:prstGeom>
          <a:noFill/>
          <a:ln/>
        </p:spPr>
        <p:txBody>
          <a:bodyPr wrap="square" lIns="0" tIns="0" rIns="0" bIns="0" rtlCol="0" anchor="t">
            <a:normAutofit lnSpcReduction="10000"/>
          </a:bodyPr>
          <a:lstStyle/>
          <a:p>
            <a:pPr marL="0" indent="0" algn="l">
              <a:lnSpc>
                <a:spcPct val="89000"/>
              </a:lnSpc>
              <a:buNone/>
            </a:pPr>
            <a:r>
              <a:rPr lang="en-US" sz="4400" kern="100" spc="-53" dirty="0">
                <a:solidFill>
                  <a:srgbClr val="ECECEC"/>
                </a:solidFill>
                <a:latin typeface="Exo SemiBold" pitchFamily="34" charset="0"/>
                <a:ea typeface="Exo SemiBold" pitchFamily="34" charset="-122"/>
                <a:cs typeface="Exo SemiBold" pitchFamily="34" charset="-120"/>
              </a:rPr>
              <a:t>One salesperson. Every city. One best loop.</a:t>
            </a:r>
            <a:endParaRPr lang="en-US" sz="4400" dirty="0"/>
          </a:p>
        </p:txBody>
      </p:sp>
      <p:sp>
        <p:nvSpPr>
          <p:cNvPr id="4" name="Shape 2"/>
          <p:cNvSpPr/>
          <p:nvPr/>
        </p:nvSpPr>
        <p:spPr>
          <a:xfrm>
            <a:off x="609585" y="1830685"/>
            <a:ext cx="1523962" cy="31651"/>
          </a:xfrm>
          <a:prstGeom prst="roundRect">
            <a:avLst>
              <a:gd name="adj" fmla="val 49998"/>
            </a:avLst>
          </a:prstGeom>
          <a:solidFill>
            <a:srgbClr val="9BE1FF"/>
          </a:solidFill>
          <a:ln/>
        </p:spPr>
      </p:sp>
      <p:sp>
        <p:nvSpPr>
          <p:cNvPr id="5" name="Text 3"/>
          <p:cNvSpPr/>
          <p:nvPr/>
        </p:nvSpPr>
        <p:spPr>
          <a:xfrm>
            <a:off x="609585" y="2086273"/>
            <a:ext cx="6095848" cy="649089"/>
          </a:xfrm>
          <a:prstGeom prst="rect">
            <a:avLst/>
          </a:prstGeom>
          <a:noFill/>
          <a:ln/>
        </p:spPr>
        <p:txBody>
          <a:bodyPr wrap="square" lIns="0" tIns="0" rIns="0" bIns="0" rtlCol="0" anchor="t">
            <a:normAutofit/>
          </a:bodyPr>
          <a:lstStyle/>
          <a:p>
            <a:pPr marL="0" indent="0" algn="l">
              <a:lnSpc>
                <a:spcPct val="118000"/>
              </a:lnSpc>
              <a:buNone/>
            </a:pPr>
            <a:r>
              <a:rPr lang="en-US" sz="1800" dirty="0">
                <a:solidFill>
                  <a:srgbClr val="D5D5D5"/>
                </a:solidFill>
                <a:latin typeface="Exo" pitchFamily="34" charset="0"/>
                <a:ea typeface="Exo" pitchFamily="34" charset="-122"/>
                <a:cs typeface="Exo" pitchFamily="34" charset="-120"/>
              </a:rPr>
              <a:t>Find a closed tour that visits every city exactly once and minimizes total travel cost.</a:t>
            </a:r>
            <a:endParaRPr lang="en-US" sz="1800" dirty="0"/>
          </a:p>
        </p:txBody>
      </p:sp>
      <p:sp>
        <p:nvSpPr>
          <p:cNvPr id="6" name="Text 4"/>
          <p:cNvSpPr/>
          <p:nvPr/>
        </p:nvSpPr>
        <p:spPr>
          <a:xfrm>
            <a:off x="609585" y="2915384"/>
            <a:ext cx="6705432"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B5B5B5"/>
                </a:solidFill>
                <a:latin typeface="Fira Mono Medium" pitchFamily="34" charset="0"/>
                <a:ea typeface="Fira Mono Medium" pitchFamily="34" charset="-122"/>
                <a:cs typeface="Fira Mono Medium" pitchFamily="34" charset="-120"/>
              </a:rPr>
              <a:t>DELIVERY ROUTES · SERVICE CALLS · INSPECTION ROUNDS</a:t>
            </a:r>
            <a:endParaRPr lang="en-US" sz="1100" dirty="0"/>
          </a:p>
        </p:txBody>
      </p:sp>
      <p:pic>
        <p:nvPicPr>
          <p:cNvPr id="7" name="Image 0" descr="preencoded.png"/>
          <p:cNvPicPr>
            <a:picLocks noChangeAspect="1"/>
          </p:cNvPicPr>
          <p:nvPr/>
        </p:nvPicPr>
        <p:blipFill>
          <a:blip r:embed="rId3"/>
          <a:stretch>
            <a:fillRect/>
          </a:stretch>
        </p:blipFill>
        <p:spPr>
          <a:xfrm>
            <a:off x="609585" y="3272532"/>
            <a:ext cx="6095848" cy="3454400"/>
          </a:xfrm>
          <a:prstGeom prst="rect">
            <a:avLst/>
          </a:prstGeom>
        </p:spPr>
      </p:pic>
      <p:sp>
        <p:nvSpPr>
          <p:cNvPr id="8" name="Shape 5"/>
          <p:cNvSpPr/>
          <p:nvPr/>
        </p:nvSpPr>
        <p:spPr>
          <a:xfrm>
            <a:off x="7315017" y="0"/>
            <a:ext cx="4876678" cy="6858000"/>
          </a:xfrm>
          <a:prstGeom prst="rect">
            <a:avLst/>
          </a:prstGeom>
          <a:solidFill>
            <a:srgbClr val="0E1F40"/>
          </a:solidFill>
          <a:ln/>
        </p:spPr>
      </p:sp>
      <p:sp>
        <p:nvSpPr>
          <p:cNvPr id="9" name="Text 6"/>
          <p:cNvSpPr/>
          <p:nvPr/>
        </p:nvSpPr>
        <p:spPr>
          <a:xfrm>
            <a:off x="7848404" y="1760418"/>
            <a:ext cx="3809905"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D5D5D5"/>
                </a:solidFill>
                <a:latin typeface="Michroma" pitchFamily="34" charset="0"/>
                <a:ea typeface="Michroma" pitchFamily="34" charset="-122"/>
                <a:cs typeface="Michroma" pitchFamily="34" charset="-120"/>
              </a:rPr>
              <a:t>START</a:t>
            </a:r>
            <a:endParaRPr lang="en-US" sz="1200" dirty="0"/>
          </a:p>
        </p:txBody>
      </p:sp>
      <p:sp>
        <p:nvSpPr>
          <p:cNvPr id="10" name="Text 7"/>
          <p:cNvSpPr/>
          <p:nvPr/>
        </p:nvSpPr>
        <p:spPr>
          <a:xfrm>
            <a:off x="7848404" y="2079427"/>
            <a:ext cx="4343291" cy="27047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Start from a chosen city.</a:t>
            </a:r>
            <a:endParaRPr lang="en-US" sz="1500" dirty="0"/>
          </a:p>
        </p:txBody>
      </p:sp>
      <p:sp>
        <p:nvSpPr>
          <p:cNvPr id="11" name="Shape 8"/>
          <p:cNvSpPr/>
          <p:nvPr/>
        </p:nvSpPr>
        <p:spPr>
          <a:xfrm>
            <a:off x="7848404" y="2573734"/>
            <a:ext cx="3809905" cy="31651"/>
          </a:xfrm>
          <a:prstGeom prst="roundRect">
            <a:avLst>
              <a:gd name="adj" fmla="val 49998"/>
            </a:avLst>
          </a:prstGeom>
          <a:solidFill>
            <a:srgbClr val="3F3F3F"/>
          </a:solidFill>
          <a:ln/>
        </p:spPr>
      </p:sp>
      <p:sp>
        <p:nvSpPr>
          <p:cNvPr id="12" name="Text 9"/>
          <p:cNvSpPr/>
          <p:nvPr/>
        </p:nvSpPr>
        <p:spPr>
          <a:xfrm>
            <a:off x="7848404" y="3009979"/>
            <a:ext cx="3809905"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D5D5D5"/>
                </a:solidFill>
                <a:latin typeface="Michroma" pitchFamily="34" charset="0"/>
                <a:ea typeface="Michroma" pitchFamily="34" charset="-122"/>
                <a:cs typeface="Michroma" pitchFamily="34" charset="-120"/>
              </a:rPr>
              <a:t>VISIT</a:t>
            </a:r>
            <a:endParaRPr lang="en-US" sz="1200" dirty="0"/>
          </a:p>
        </p:txBody>
      </p:sp>
      <p:sp>
        <p:nvSpPr>
          <p:cNvPr id="13" name="Text 10"/>
          <p:cNvSpPr/>
          <p:nvPr/>
        </p:nvSpPr>
        <p:spPr>
          <a:xfrm>
            <a:off x="7848404" y="3328988"/>
            <a:ext cx="4343291" cy="27047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Visit every other city exactly once.</a:t>
            </a:r>
            <a:endParaRPr lang="en-US" sz="1500" dirty="0"/>
          </a:p>
        </p:txBody>
      </p:sp>
      <p:sp>
        <p:nvSpPr>
          <p:cNvPr id="14" name="Shape 11"/>
          <p:cNvSpPr/>
          <p:nvPr/>
        </p:nvSpPr>
        <p:spPr>
          <a:xfrm>
            <a:off x="7848404" y="3823295"/>
            <a:ext cx="3809905" cy="31651"/>
          </a:xfrm>
          <a:prstGeom prst="roundRect">
            <a:avLst>
              <a:gd name="adj" fmla="val 49998"/>
            </a:avLst>
          </a:prstGeom>
          <a:solidFill>
            <a:srgbClr val="3F3F3F"/>
          </a:solidFill>
          <a:ln/>
        </p:spPr>
      </p:sp>
      <p:sp>
        <p:nvSpPr>
          <p:cNvPr id="15" name="Text 12"/>
          <p:cNvSpPr/>
          <p:nvPr/>
        </p:nvSpPr>
        <p:spPr>
          <a:xfrm>
            <a:off x="7848404" y="4259540"/>
            <a:ext cx="3809905"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D5D5D5"/>
                </a:solidFill>
                <a:latin typeface="Michroma" pitchFamily="34" charset="0"/>
                <a:ea typeface="Michroma" pitchFamily="34" charset="-122"/>
                <a:cs typeface="Michroma" pitchFamily="34" charset="-120"/>
              </a:rPr>
              <a:t>RETURN</a:t>
            </a:r>
            <a:endParaRPr lang="en-US" sz="1200" dirty="0"/>
          </a:p>
        </p:txBody>
      </p:sp>
      <p:sp>
        <p:nvSpPr>
          <p:cNvPr id="16" name="Text 13"/>
          <p:cNvSpPr/>
          <p:nvPr/>
        </p:nvSpPr>
        <p:spPr>
          <a:xfrm>
            <a:off x="7848404" y="4578548"/>
            <a:ext cx="3809905"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Return to the start with minimum total cost.</a:t>
            </a:r>
            <a:endParaRPr lang="en-US" sz="1500" dirty="0"/>
          </a:p>
        </p:txBody>
      </p:sp>
      <p:sp>
        <p:nvSpPr>
          <p:cNvPr id="17" name="Text 14"/>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1822"/>
            <a:ext cx="3911502"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B5B5B5"/>
                </a:solidFill>
                <a:latin typeface="Fira Mono Medium" pitchFamily="34" charset="0"/>
                <a:ea typeface="Fira Mono Medium" pitchFamily="34" charset="-122"/>
                <a:cs typeface="Fira Mono Medium" pitchFamily="34" charset="-120"/>
              </a:rPr>
              <a:t>MODEL THE ROUTE</a:t>
            </a:r>
            <a:endParaRPr lang="en-US" sz="1100" dirty="0"/>
          </a:p>
        </p:txBody>
      </p:sp>
      <p:sp>
        <p:nvSpPr>
          <p:cNvPr id="3" name="Text 1"/>
          <p:cNvSpPr/>
          <p:nvPr/>
        </p:nvSpPr>
        <p:spPr>
          <a:xfrm>
            <a:off x="609585" y="904042"/>
            <a:ext cx="3809905" cy="1426666"/>
          </a:xfrm>
          <a:prstGeom prst="rect">
            <a:avLst/>
          </a:prstGeom>
          <a:noFill/>
          <a:ln/>
        </p:spPr>
        <p:txBody>
          <a:bodyPr wrap="square" lIns="0" tIns="0" rIns="0" bIns="0" rtlCol="0" anchor="t">
            <a:normAutofit lnSpcReduction="10000"/>
          </a:bodyPr>
          <a:lstStyle/>
          <a:p>
            <a:pPr marL="0" indent="0" algn="l">
              <a:lnSpc>
                <a:spcPct val="89000"/>
              </a:lnSpc>
              <a:buNone/>
            </a:pPr>
            <a:r>
              <a:rPr lang="en-US" sz="3500" kern="100" spc="-42" dirty="0">
                <a:solidFill>
                  <a:srgbClr val="ECECEC"/>
                </a:solidFill>
                <a:latin typeface="Exo SemiBold" pitchFamily="34" charset="0"/>
                <a:ea typeface="Exo SemiBold" pitchFamily="34" charset="-122"/>
                <a:cs typeface="Exo SemiBold" pitchFamily="34" charset="-120"/>
              </a:rPr>
              <a:t>TSP turns a map into a weighted graph</a:t>
            </a:r>
            <a:endParaRPr lang="en-US" sz="3500" dirty="0"/>
          </a:p>
        </p:txBody>
      </p:sp>
      <p:sp>
        <p:nvSpPr>
          <p:cNvPr id="4" name="Shape 2"/>
          <p:cNvSpPr/>
          <p:nvPr/>
        </p:nvSpPr>
        <p:spPr>
          <a:xfrm>
            <a:off x="609585" y="2540099"/>
            <a:ext cx="952476" cy="31651"/>
          </a:xfrm>
          <a:prstGeom prst="roundRect">
            <a:avLst>
              <a:gd name="adj" fmla="val 49998"/>
            </a:avLst>
          </a:prstGeom>
          <a:solidFill>
            <a:srgbClr val="9BE1FF"/>
          </a:solidFill>
          <a:ln/>
        </p:spPr>
      </p:sp>
      <p:sp>
        <p:nvSpPr>
          <p:cNvPr id="5" name="Text 3"/>
          <p:cNvSpPr/>
          <p:nvPr/>
        </p:nvSpPr>
        <p:spPr>
          <a:xfrm>
            <a:off x="609585" y="2754094"/>
            <a:ext cx="3809905"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D5D5D5"/>
                </a:solidFill>
                <a:latin typeface="Michroma" pitchFamily="34" charset="0"/>
                <a:ea typeface="Michroma" pitchFamily="34" charset="-122"/>
                <a:cs typeface="Michroma" pitchFamily="34" charset="-120"/>
              </a:rPr>
              <a:t>VERTEX</a:t>
            </a:r>
            <a:endParaRPr lang="en-US" sz="1200" dirty="0"/>
          </a:p>
        </p:txBody>
      </p:sp>
      <p:sp>
        <p:nvSpPr>
          <p:cNvPr id="6" name="Text 4"/>
          <p:cNvSpPr/>
          <p:nvPr/>
        </p:nvSpPr>
        <p:spPr>
          <a:xfrm>
            <a:off x="609585" y="3073102"/>
            <a:ext cx="3809905" cy="27047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A city.</a:t>
            </a:r>
            <a:endParaRPr lang="en-US" sz="1500" dirty="0"/>
          </a:p>
        </p:txBody>
      </p:sp>
      <p:sp>
        <p:nvSpPr>
          <p:cNvPr id="7" name="Text 5"/>
          <p:cNvSpPr/>
          <p:nvPr/>
        </p:nvSpPr>
        <p:spPr>
          <a:xfrm>
            <a:off x="609585" y="3670280"/>
            <a:ext cx="3809905"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D5D5D5"/>
                </a:solidFill>
                <a:latin typeface="Michroma" pitchFamily="34" charset="0"/>
                <a:ea typeface="Michroma" pitchFamily="34" charset="-122"/>
                <a:cs typeface="Michroma" pitchFamily="34" charset="-120"/>
              </a:rPr>
              <a:t>EDGE</a:t>
            </a:r>
            <a:endParaRPr lang="en-US" sz="1200" dirty="0"/>
          </a:p>
        </p:txBody>
      </p:sp>
      <p:sp>
        <p:nvSpPr>
          <p:cNvPr id="8" name="Text 6"/>
          <p:cNvSpPr/>
          <p:nvPr/>
        </p:nvSpPr>
        <p:spPr>
          <a:xfrm>
            <a:off x="609585" y="3989288"/>
            <a:ext cx="3809905" cy="27047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A possible journey.</a:t>
            </a:r>
            <a:endParaRPr lang="en-US" sz="1500" dirty="0"/>
          </a:p>
        </p:txBody>
      </p:sp>
      <p:sp>
        <p:nvSpPr>
          <p:cNvPr id="9" name="Text 7"/>
          <p:cNvSpPr/>
          <p:nvPr/>
        </p:nvSpPr>
        <p:spPr>
          <a:xfrm>
            <a:off x="609585" y="4586466"/>
            <a:ext cx="3809905"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D5D5D5"/>
                </a:solidFill>
                <a:latin typeface="Michroma" pitchFamily="34" charset="0"/>
                <a:ea typeface="Michroma" pitchFamily="34" charset="-122"/>
                <a:cs typeface="Michroma" pitchFamily="34" charset="-120"/>
              </a:rPr>
              <a:t>WEIGHT</a:t>
            </a:r>
            <a:endParaRPr lang="en-US" sz="1200" dirty="0"/>
          </a:p>
        </p:txBody>
      </p:sp>
      <p:sp>
        <p:nvSpPr>
          <p:cNvPr id="10" name="Text 8"/>
          <p:cNvSpPr/>
          <p:nvPr/>
        </p:nvSpPr>
        <p:spPr>
          <a:xfrm>
            <a:off x="609585" y="4905474"/>
            <a:ext cx="3809905" cy="27047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Distance, time, or cost.</a:t>
            </a:r>
            <a:endParaRPr lang="en-US" sz="1500" dirty="0"/>
          </a:p>
        </p:txBody>
      </p:sp>
      <p:sp>
        <p:nvSpPr>
          <p:cNvPr id="11" name="Text 9"/>
          <p:cNvSpPr/>
          <p:nvPr/>
        </p:nvSpPr>
        <p:spPr>
          <a:xfrm>
            <a:off x="609585" y="5502652"/>
            <a:ext cx="3809905"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D5D5D5"/>
                </a:solidFill>
                <a:latin typeface="Michroma" pitchFamily="34" charset="0"/>
                <a:ea typeface="Michroma" pitchFamily="34" charset="-122"/>
                <a:cs typeface="Michroma" pitchFamily="34" charset="-120"/>
              </a:rPr>
              <a:t>GOAL</a:t>
            </a:r>
            <a:endParaRPr lang="en-US" sz="1200" dirty="0"/>
          </a:p>
        </p:txBody>
      </p:sp>
      <p:sp>
        <p:nvSpPr>
          <p:cNvPr id="12" name="Text 10"/>
          <p:cNvSpPr/>
          <p:nvPr/>
        </p:nvSpPr>
        <p:spPr>
          <a:xfrm>
            <a:off x="609585" y="5821660"/>
            <a:ext cx="3809905" cy="27047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Minimum-weight Hamiltonian cycle.</a:t>
            </a:r>
            <a:endParaRPr lang="en-US" sz="1500" dirty="0"/>
          </a:p>
        </p:txBody>
      </p:sp>
      <p:sp>
        <p:nvSpPr>
          <p:cNvPr id="13" name="Text 11"/>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03</a:t>
            </a:r>
            <a:endParaRPr lang="en-US" sz="1050" dirty="0"/>
          </a:p>
        </p:txBody>
      </p:sp>
      <p:sp>
        <p:nvSpPr>
          <p:cNvPr id="14" name="Shape 12"/>
          <p:cNvSpPr/>
          <p:nvPr/>
        </p:nvSpPr>
        <p:spPr>
          <a:xfrm>
            <a:off x="6912497" y="1624707"/>
            <a:ext cx="2120450" cy="11212"/>
          </a:xfrm>
          <a:prstGeom prst="line">
            <a:avLst/>
          </a:prstGeom>
          <a:solidFill>
            <a:srgbClr val="9BE1FF"/>
          </a:solidFill>
          <a:ln w="25400">
            <a:solidFill>
              <a:srgbClr val="4A86FF"/>
            </a:solidFill>
            <a:prstDash val="solid"/>
          </a:ln>
        </p:spPr>
      </p:sp>
      <p:sp>
        <p:nvSpPr>
          <p:cNvPr id="15" name="Shape 13"/>
          <p:cNvSpPr/>
          <p:nvPr/>
        </p:nvSpPr>
        <p:spPr>
          <a:xfrm>
            <a:off x="9438940" y="2030710"/>
            <a:ext cx="11211" cy="1330920"/>
          </a:xfrm>
          <a:prstGeom prst="line">
            <a:avLst/>
          </a:prstGeom>
          <a:solidFill>
            <a:srgbClr val="9BE1FF"/>
          </a:solidFill>
          <a:ln w="25400">
            <a:solidFill>
              <a:srgbClr val="4A86FF"/>
            </a:solidFill>
            <a:prstDash val="solid"/>
          </a:ln>
        </p:spPr>
      </p:sp>
      <p:sp>
        <p:nvSpPr>
          <p:cNvPr id="16" name="Shape 14"/>
          <p:cNvSpPr/>
          <p:nvPr/>
        </p:nvSpPr>
        <p:spPr>
          <a:xfrm>
            <a:off x="6912497" y="3767832"/>
            <a:ext cx="2120450" cy="11212"/>
          </a:xfrm>
          <a:prstGeom prst="line">
            <a:avLst/>
          </a:prstGeom>
          <a:solidFill>
            <a:srgbClr val="9BE1FF"/>
          </a:solidFill>
          <a:ln w="25400">
            <a:solidFill>
              <a:srgbClr val="4A86FF"/>
            </a:solidFill>
            <a:prstDash val="solid"/>
          </a:ln>
        </p:spPr>
      </p:sp>
      <p:sp>
        <p:nvSpPr>
          <p:cNvPr id="17" name="Shape 15"/>
          <p:cNvSpPr/>
          <p:nvPr/>
        </p:nvSpPr>
        <p:spPr>
          <a:xfrm>
            <a:off x="6506404" y="2030710"/>
            <a:ext cx="11211" cy="1330920"/>
          </a:xfrm>
          <a:prstGeom prst="line">
            <a:avLst/>
          </a:prstGeom>
          <a:solidFill>
            <a:srgbClr val="9BE1FF"/>
          </a:solidFill>
          <a:ln w="25400">
            <a:solidFill>
              <a:srgbClr val="4A86FF"/>
            </a:solidFill>
            <a:prstDash val="solid"/>
          </a:ln>
        </p:spPr>
      </p:sp>
      <p:sp>
        <p:nvSpPr>
          <p:cNvPr id="18" name="Shape 16"/>
          <p:cNvSpPr/>
          <p:nvPr/>
        </p:nvSpPr>
        <p:spPr>
          <a:xfrm>
            <a:off x="6912497" y="2030710"/>
            <a:ext cx="2526443" cy="1737023"/>
          </a:xfrm>
          <a:prstGeom prst="line">
            <a:avLst/>
          </a:prstGeom>
          <a:solidFill>
            <a:srgbClr val="9BE1FF"/>
          </a:solidFill>
          <a:ln w="25400">
            <a:solidFill>
              <a:srgbClr val="4A86FF"/>
            </a:solidFill>
            <a:prstDash val="solid"/>
          </a:ln>
        </p:spPr>
      </p:sp>
      <p:sp>
        <p:nvSpPr>
          <p:cNvPr id="19" name="Shape 17"/>
          <p:cNvSpPr/>
          <p:nvPr/>
        </p:nvSpPr>
        <p:spPr>
          <a:xfrm>
            <a:off x="6912497" y="1624707"/>
            <a:ext cx="2120450" cy="11212"/>
          </a:xfrm>
          <a:prstGeom prst="line">
            <a:avLst/>
          </a:prstGeom>
          <a:solidFill>
            <a:srgbClr val="9BE1FF"/>
          </a:solidFill>
          <a:ln w="50800">
            <a:solidFill>
              <a:srgbClr val="9BE1FF"/>
            </a:solidFill>
            <a:prstDash val="solid"/>
          </a:ln>
        </p:spPr>
      </p:sp>
      <p:sp>
        <p:nvSpPr>
          <p:cNvPr id="20" name="Shape 18"/>
          <p:cNvSpPr/>
          <p:nvPr/>
        </p:nvSpPr>
        <p:spPr>
          <a:xfrm>
            <a:off x="9438940" y="2030710"/>
            <a:ext cx="11211" cy="1330920"/>
          </a:xfrm>
          <a:prstGeom prst="line">
            <a:avLst/>
          </a:prstGeom>
          <a:solidFill>
            <a:srgbClr val="9BE1FF"/>
          </a:solidFill>
          <a:ln w="50800">
            <a:solidFill>
              <a:srgbClr val="9BE1FF"/>
            </a:solidFill>
            <a:prstDash val="solid"/>
          </a:ln>
        </p:spPr>
      </p:sp>
      <p:sp>
        <p:nvSpPr>
          <p:cNvPr id="21" name="Shape 19"/>
          <p:cNvSpPr/>
          <p:nvPr/>
        </p:nvSpPr>
        <p:spPr>
          <a:xfrm>
            <a:off x="6912497" y="3767832"/>
            <a:ext cx="2120450" cy="11212"/>
          </a:xfrm>
          <a:prstGeom prst="line">
            <a:avLst/>
          </a:prstGeom>
          <a:solidFill>
            <a:srgbClr val="9BE1FF"/>
          </a:solidFill>
          <a:ln w="50800">
            <a:solidFill>
              <a:srgbClr val="9BE1FF"/>
            </a:solidFill>
            <a:prstDash val="solid"/>
          </a:ln>
        </p:spPr>
      </p:sp>
      <p:sp>
        <p:nvSpPr>
          <p:cNvPr id="22" name="Shape 20"/>
          <p:cNvSpPr/>
          <p:nvPr/>
        </p:nvSpPr>
        <p:spPr>
          <a:xfrm>
            <a:off x="6506404" y="2030710"/>
            <a:ext cx="11211" cy="1330920"/>
          </a:xfrm>
          <a:prstGeom prst="line">
            <a:avLst/>
          </a:prstGeom>
          <a:solidFill>
            <a:srgbClr val="9BE1FF"/>
          </a:solidFill>
          <a:ln w="50800">
            <a:solidFill>
              <a:srgbClr val="9BE1FF"/>
            </a:solidFill>
            <a:prstDash val="solid"/>
          </a:ln>
        </p:spPr>
      </p:sp>
      <p:sp>
        <p:nvSpPr>
          <p:cNvPr id="23" name="Shape 21"/>
          <p:cNvSpPr/>
          <p:nvPr/>
        </p:nvSpPr>
        <p:spPr>
          <a:xfrm>
            <a:off x="6100312" y="1218605"/>
            <a:ext cx="812085" cy="812105"/>
          </a:xfrm>
          <a:prstGeom prst="ellipse">
            <a:avLst/>
          </a:prstGeom>
          <a:solidFill>
            <a:srgbClr val="4A86FF"/>
          </a:solidFill>
          <a:ln/>
        </p:spPr>
      </p:sp>
      <p:sp>
        <p:nvSpPr>
          <p:cNvPr id="24" name="Shape 22"/>
          <p:cNvSpPr/>
          <p:nvPr/>
        </p:nvSpPr>
        <p:spPr>
          <a:xfrm>
            <a:off x="9032947" y="1218605"/>
            <a:ext cx="812085" cy="812105"/>
          </a:xfrm>
          <a:prstGeom prst="ellipse">
            <a:avLst/>
          </a:prstGeom>
          <a:solidFill>
            <a:srgbClr val="4A86FF"/>
          </a:solidFill>
          <a:ln/>
        </p:spPr>
      </p:sp>
      <p:sp>
        <p:nvSpPr>
          <p:cNvPr id="25" name="Shape 23"/>
          <p:cNvSpPr/>
          <p:nvPr/>
        </p:nvSpPr>
        <p:spPr>
          <a:xfrm>
            <a:off x="9032947" y="3361730"/>
            <a:ext cx="812085" cy="812105"/>
          </a:xfrm>
          <a:prstGeom prst="ellipse">
            <a:avLst/>
          </a:prstGeom>
          <a:solidFill>
            <a:srgbClr val="4A86FF"/>
          </a:solidFill>
          <a:ln/>
        </p:spPr>
      </p:sp>
      <p:sp>
        <p:nvSpPr>
          <p:cNvPr id="26" name="Shape 24"/>
          <p:cNvSpPr/>
          <p:nvPr/>
        </p:nvSpPr>
        <p:spPr>
          <a:xfrm>
            <a:off x="6100312" y="3361730"/>
            <a:ext cx="812085" cy="812105"/>
          </a:xfrm>
          <a:prstGeom prst="ellipse">
            <a:avLst/>
          </a:prstGeom>
          <a:solidFill>
            <a:srgbClr val="4A86FF"/>
          </a:solidFill>
          <a:ln/>
        </p:spPr>
      </p:sp>
      <p:sp>
        <p:nvSpPr>
          <p:cNvPr id="27" name="Text 25"/>
          <p:cNvSpPr/>
          <p:nvPr/>
        </p:nvSpPr>
        <p:spPr>
          <a:xfrm>
            <a:off x="6151012" y="1466751"/>
            <a:ext cx="710686" cy="419100"/>
          </a:xfrm>
          <a:prstGeom prst="rect">
            <a:avLst/>
          </a:prstGeom>
          <a:noFill/>
          <a:ln/>
        </p:spPr>
        <p:txBody>
          <a:bodyPr wrap="none" lIns="0" tIns="0" rIns="0" bIns="0" rtlCol="0" anchor="t"/>
          <a:lstStyle/>
          <a:p>
            <a:pPr marL="0" indent="0" algn="ctr">
              <a:lnSpc>
                <a:spcPct val="110000"/>
              </a:lnSpc>
              <a:buNone/>
            </a:pPr>
            <a:r>
              <a:rPr lang="en-US" sz="2500" dirty="0">
                <a:solidFill>
                  <a:srgbClr val="D5D5D5"/>
                </a:solidFill>
                <a:latin typeface="Exo" pitchFamily="34" charset="0"/>
                <a:ea typeface="Exo" pitchFamily="34" charset="-122"/>
                <a:cs typeface="Exo" pitchFamily="34" charset="-120"/>
              </a:rPr>
              <a:t>A</a:t>
            </a:r>
            <a:endParaRPr lang="en-US" sz="2500" dirty="0"/>
          </a:p>
        </p:txBody>
      </p:sp>
      <p:sp>
        <p:nvSpPr>
          <p:cNvPr id="28" name="Text 26"/>
          <p:cNvSpPr/>
          <p:nvPr/>
        </p:nvSpPr>
        <p:spPr>
          <a:xfrm>
            <a:off x="9083646" y="1466751"/>
            <a:ext cx="710686" cy="419100"/>
          </a:xfrm>
          <a:prstGeom prst="rect">
            <a:avLst/>
          </a:prstGeom>
          <a:noFill/>
          <a:ln/>
        </p:spPr>
        <p:txBody>
          <a:bodyPr wrap="none" lIns="0" tIns="0" rIns="0" bIns="0" rtlCol="0" anchor="t"/>
          <a:lstStyle/>
          <a:p>
            <a:pPr marL="0" indent="0" algn="ctr">
              <a:lnSpc>
                <a:spcPct val="110000"/>
              </a:lnSpc>
              <a:buNone/>
            </a:pPr>
            <a:r>
              <a:rPr lang="en-US" sz="2500" dirty="0">
                <a:solidFill>
                  <a:srgbClr val="D5D5D5"/>
                </a:solidFill>
                <a:latin typeface="Exo" pitchFamily="34" charset="0"/>
                <a:ea typeface="Exo" pitchFamily="34" charset="-122"/>
                <a:cs typeface="Exo" pitchFamily="34" charset="-120"/>
              </a:rPr>
              <a:t>B</a:t>
            </a:r>
            <a:endParaRPr lang="en-US" sz="2500" dirty="0"/>
          </a:p>
        </p:txBody>
      </p:sp>
      <p:sp>
        <p:nvSpPr>
          <p:cNvPr id="29" name="Text 27"/>
          <p:cNvSpPr/>
          <p:nvPr/>
        </p:nvSpPr>
        <p:spPr>
          <a:xfrm>
            <a:off x="9083646" y="3609876"/>
            <a:ext cx="710686" cy="419100"/>
          </a:xfrm>
          <a:prstGeom prst="rect">
            <a:avLst/>
          </a:prstGeom>
          <a:noFill/>
          <a:ln/>
        </p:spPr>
        <p:txBody>
          <a:bodyPr wrap="none" lIns="0" tIns="0" rIns="0" bIns="0" rtlCol="0" anchor="t"/>
          <a:lstStyle/>
          <a:p>
            <a:pPr marL="0" indent="0" algn="ctr">
              <a:lnSpc>
                <a:spcPct val="110000"/>
              </a:lnSpc>
              <a:buNone/>
            </a:pPr>
            <a:r>
              <a:rPr lang="en-US" sz="2500" dirty="0">
                <a:solidFill>
                  <a:srgbClr val="D5D5D5"/>
                </a:solidFill>
                <a:latin typeface="Exo" pitchFamily="34" charset="0"/>
                <a:ea typeface="Exo" pitchFamily="34" charset="-122"/>
                <a:cs typeface="Exo" pitchFamily="34" charset="-120"/>
              </a:rPr>
              <a:t>C</a:t>
            </a:r>
            <a:endParaRPr lang="en-US" sz="2500" dirty="0"/>
          </a:p>
        </p:txBody>
      </p:sp>
      <p:sp>
        <p:nvSpPr>
          <p:cNvPr id="30" name="Text 28"/>
          <p:cNvSpPr/>
          <p:nvPr/>
        </p:nvSpPr>
        <p:spPr>
          <a:xfrm>
            <a:off x="6151012" y="3609876"/>
            <a:ext cx="710686" cy="419100"/>
          </a:xfrm>
          <a:prstGeom prst="rect">
            <a:avLst/>
          </a:prstGeom>
          <a:noFill/>
          <a:ln/>
        </p:spPr>
        <p:txBody>
          <a:bodyPr wrap="none" lIns="0" tIns="0" rIns="0" bIns="0" rtlCol="0" anchor="t"/>
          <a:lstStyle/>
          <a:p>
            <a:pPr marL="0" indent="0" algn="ctr">
              <a:lnSpc>
                <a:spcPct val="110000"/>
              </a:lnSpc>
              <a:buNone/>
            </a:pPr>
            <a:r>
              <a:rPr lang="en-US" sz="2500" dirty="0">
                <a:solidFill>
                  <a:srgbClr val="D5D5D5"/>
                </a:solidFill>
                <a:latin typeface="Exo" pitchFamily="34" charset="0"/>
                <a:ea typeface="Exo" pitchFamily="34" charset="-122"/>
                <a:cs typeface="Exo" pitchFamily="34" charset="-120"/>
              </a:rPr>
              <a:t>D</a:t>
            </a:r>
            <a:endParaRPr lang="en-US" sz="2500" dirty="0"/>
          </a:p>
        </p:txBody>
      </p:sp>
      <p:sp>
        <p:nvSpPr>
          <p:cNvPr id="31" name="Text 29"/>
          <p:cNvSpPr/>
          <p:nvPr/>
        </p:nvSpPr>
        <p:spPr>
          <a:xfrm>
            <a:off x="7267393" y="1265273"/>
            <a:ext cx="1049510" cy="184348"/>
          </a:xfrm>
          <a:prstGeom prst="rect">
            <a:avLst/>
          </a:prstGeom>
          <a:noFill/>
          <a:ln/>
        </p:spPr>
        <p:txBody>
          <a:bodyPr wrap="none" lIns="0" tIns="0" rIns="0" bIns="0" rtlCol="0" anchor="t"/>
          <a:lstStyle/>
          <a:p>
            <a:pPr marL="0" indent="0" algn="ctr">
              <a:lnSpc>
                <a:spcPct val="110000"/>
              </a:lnSpc>
              <a:buNone/>
            </a:pPr>
            <a:r>
              <a:rPr lang="en-US" sz="1100" kern="100" spc="11" dirty="0">
                <a:solidFill>
                  <a:srgbClr val="9D9D9D"/>
                </a:solidFill>
                <a:latin typeface="Exo" pitchFamily="34" charset="0"/>
                <a:ea typeface="Exo" pitchFamily="34" charset="-122"/>
                <a:cs typeface="Exo" pitchFamily="34" charset="-120"/>
              </a:rPr>
              <a:t>10</a:t>
            </a:r>
            <a:endParaRPr lang="en-US" sz="1100" dirty="0"/>
          </a:p>
        </p:txBody>
      </p:sp>
      <p:sp>
        <p:nvSpPr>
          <p:cNvPr id="32" name="Text 30"/>
          <p:cNvSpPr/>
          <p:nvPr/>
        </p:nvSpPr>
        <p:spPr>
          <a:xfrm>
            <a:off x="5710888" y="2528526"/>
            <a:ext cx="959322" cy="184348"/>
          </a:xfrm>
          <a:prstGeom prst="rect">
            <a:avLst/>
          </a:prstGeom>
          <a:noFill/>
          <a:ln/>
        </p:spPr>
        <p:txBody>
          <a:bodyPr wrap="none" lIns="0" tIns="0" rIns="0" bIns="0" rtlCol="0" anchor="t"/>
          <a:lstStyle/>
          <a:p>
            <a:pPr marL="0" indent="0" algn="ctr">
              <a:lnSpc>
                <a:spcPct val="110000"/>
              </a:lnSpc>
              <a:buNone/>
            </a:pPr>
            <a:r>
              <a:rPr lang="en-US" sz="1100" kern="100" spc="11" dirty="0">
                <a:solidFill>
                  <a:srgbClr val="9D9D9D"/>
                </a:solidFill>
                <a:latin typeface="Exo" pitchFamily="34" charset="0"/>
                <a:ea typeface="Exo" pitchFamily="34" charset="-122"/>
                <a:cs typeface="Exo" pitchFamily="34" charset="-120"/>
              </a:rPr>
              <a:t>20</a:t>
            </a:r>
            <a:endParaRPr lang="en-US" sz="1100" dirty="0"/>
          </a:p>
        </p:txBody>
      </p:sp>
      <p:sp>
        <p:nvSpPr>
          <p:cNvPr id="33" name="Text 31"/>
          <p:cNvSpPr/>
          <p:nvPr/>
        </p:nvSpPr>
        <p:spPr>
          <a:xfrm>
            <a:off x="8056956" y="2866962"/>
            <a:ext cx="846513" cy="184348"/>
          </a:xfrm>
          <a:prstGeom prst="rect">
            <a:avLst/>
          </a:prstGeom>
          <a:noFill/>
          <a:ln/>
        </p:spPr>
        <p:txBody>
          <a:bodyPr wrap="none" lIns="0" tIns="0" rIns="0" bIns="0" rtlCol="0" anchor="t"/>
          <a:lstStyle/>
          <a:p>
            <a:pPr marL="0" indent="0" algn="ctr">
              <a:lnSpc>
                <a:spcPct val="110000"/>
              </a:lnSpc>
              <a:buNone/>
            </a:pPr>
            <a:r>
              <a:rPr lang="en-US" sz="1100" kern="100" spc="11" dirty="0">
                <a:solidFill>
                  <a:srgbClr val="9D9D9D"/>
                </a:solidFill>
                <a:latin typeface="Exo" pitchFamily="34" charset="0"/>
                <a:ea typeface="Exo" pitchFamily="34" charset="-122"/>
                <a:cs typeface="Exo" pitchFamily="34" charset="-120"/>
              </a:rPr>
              <a:t>15</a:t>
            </a:r>
            <a:endParaRPr lang="en-US" sz="1100" dirty="0"/>
          </a:p>
        </p:txBody>
      </p:sp>
      <p:sp>
        <p:nvSpPr>
          <p:cNvPr id="34" name="Text 32"/>
          <p:cNvSpPr/>
          <p:nvPr/>
        </p:nvSpPr>
        <p:spPr>
          <a:xfrm>
            <a:off x="6929066" y="3024819"/>
            <a:ext cx="846513" cy="184348"/>
          </a:xfrm>
          <a:prstGeom prst="rect">
            <a:avLst/>
          </a:prstGeom>
          <a:noFill/>
          <a:ln/>
        </p:spPr>
        <p:txBody>
          <a:bodyPr wrap="none" lIns="0" tIns="0" rIns="0" bIns="0" rtlCol="0" anchor="t"/>
          <a:lstStyle/>
          <a:p>
            <a:pPr marL="0" indent="0" algn="ctr">
              <a:lnSpc>
                <a:spcPct val="110000"/>
              </a:lnSpc>
              <a:buNone/>
            </a:pPr>
            <a:r>
              <a:rPr lang="en-US" sz="1100" kern="100" spc="11" dirty="0">
                <a:solidFill>
                  <a:srgbClr val="9D9D9D"/>
                </a:solidFill>
                <a:latin typeface="Exo" pitchFamily="34" charset="0"/>
                <a:ea typeface="Exo" pitchFamily="34" charset="-122"/>
                <a:cs typeface="Exo" pitchFamily="34" charset="-120"/>
              </a:rPr>
              <a:t>25</a:t>
            </a:r>
            <a:endParaRPr lang="en-US" sz="1100" dirty="0"/>
          </a:p>
        </p:txBody>
      </p:sp>
      <p:sp>
        <p:nvSpPr>
          <p:cNvPr id="35" name="Text 33"/>
          <p:cNvSpPr/>
          <p:nvPr/>
        </p:nvSpPr>
        <p:spPr>
          <a:xfrm>
            <a:off x="9455608" y="2415814"/>
            <a:ext cx="1297650" cy="184348"/>
          </a:xfrm>
          <a:prstGeom prst="rect">
            <a:avLst/>
          </a:prstGeom>
          <a:noFill/>
          <a:ln/>
        </p:spPr>
        <p:txBody>
          <a:bodyPr wrap="none" lIns="0" tIns="0" rIns="0" bIns="0" rtlCol="0" anchor="t"/>
          <a:lstStyle/>
          <a:p>
            <a:pPr marL="0" indent="0" algn="ctr">
              <a:lnSpc>
                <a:spcPct val="110000"/>
              </a:lnSpc>
              <a:buNone/>
            </a:pPr>
            <a:r>
              <a:rPr lang="en-US" sz="1100" kern="100" spc="11" dirty="0">
                <a:solidFill>
                  <a:srgbClr val="9D9D9D"/>
                </a:solidFill>
                <a:latin typeface="Exo" pitchFamily="34" charset="0"/>
                <a:ea typeface="Exo" pitchFamily="34" charset="-122"/>
                <a:cs typeface="Exo" pitchFamily="34" charset="-120"/>
              </a:rPr>
              <a:t>35</a:t>
            </a:r>
            <a:endParaRPr lang="en-US" sz="1100" dirty="0"/>
          </a:p>
        </p:txBody>
      </p:sp>
      <p:sp>
        <p:nvSpPr>
          <p:cNvPr id="36" name="Text 34"/>
          <p:cNvSpPr/>
          <p:nvPr/>
        </p:nvSpPr>
        <p:spPr>
          <a:xfrm>
            <a:off x="7290015" y="3904690"/>
            <a:ext cx="1207462" cy="184348"/>
          </a:xfrm>
          <a:prstGeom prst="rect">
            <a:avLst/>
          </a:prstGeom>
          <a:noFill/>
          <a:ln/>
        </p:spPr>
        <p:txBody>
          <a:bodyPr wrap="none" lIns="0" tIns="0" rIns="0" bIns="0" rtlCol="0" anchor="t"/>
          <a:lstStyle/>
          <a:p>
            <a:pPr marL="0" indent="0" algn="ctr">
              <a:lnSpc>
                <a:spcPct val="110000"/>
              </a:lnSpc>
              <a:buNone/>
            </a:pPr>
            <a:r>
              <a:rPr lang="en-US" sz="1100" kern="100" spc="11" dirty="0">
                <a:solidFill>
                  <a:srgbClr val="9D9D9D"/>
                </a:solidFill>
                <a:latin typeface="Exo" pitchFamily="34" charset="0"/>
                <a:ea typeface="Exo" pitchFamily="34" charset="-122"/>
                <a:cs typeface="Exo" pitchFamily="34" charset="-120"/>
              </a:rPr>
              <a:t>30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1822"/>
            <a:ext cx="4279793"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B5B5B5"/>
                </a:solidFill>
                <a:latin typeface="Fira Mono Medium" pitchFamily="34" charset="0"/>
                <a:ea typeface="Fira Mono Medium" pitchFamily="34" charset="-122"/>
                <a:cs typeface="Fira Mono Medium" pitchFamily="34" charset="-120"/>
              </a:rPr>
              <a:t>WORKED EXAMPLE</a:t>
            </a:r>
            <a:endParaRPr lang="en-US" sz="1100" dirty="0"/>
          </a:p>
        </p:txBody>
      </p:sp>
      <p:sp>
        <p:nvSpPr>
          <p:cNvPr id="3" name="Text 1"/>
          <p:cNvSpPr/>
          <p:nvPr/>
        </p:nvSpPr>
        <p:spPr>
          <a:xfrm>
            <a:off x="609585" y="904042"/>
            <a:ext cx="3670208" cy="951111"/>
          </a:xfrm>
          <a:prstGeom prst="rect">
            <a:avLst/>
          </a:prstGeom>
          <a:noFill/>
          <a:ln/>
        </p:spPr>
        <p:txBody>
          <a:bodyPr wrap="square" lIns="0" tIns="0" rIns="0" bIns="0" rtlCol="0" anchor="t">
            <a:normAutofit lnSpcReduction="10000"/>
          </a:bodyPr>
          <a:lstStyle/>
          <a:p>
            <a:pPr marL="0" indent="0" algn="l">
              <a:lnSpc>
                <a:spcPct val="89000"/>
              </a:lnSpc>
              <a:buNone/>
            </a:pPr>
            <a:r>
              <a:rPr lang="en-US" sz="3500" kern="100" spc="-42" dirty="0">
                <a:solidFill>
                  <a:srgbClr val="ECECEC"/>
                </a:solidFill>
                <a:latin typeface="Exo SemiBold" pitchFamily="34" charset="0"/>
                <a:ea typeface="Exo SemiBold" pitchFamily="34" charset="-122"/>
                <a:cs typeface="Exo SemiBold" pitchFamily="34" charset="-120"/>
              </a:rPr>
              <a:t>The best tour costs </a:t>
            </a:r>
            <a:r>
              <a:rPr lang="en-US" sz="3500" kern="100" spc="-42" dirty="0">
                <a:solidFill>
                  <a:srgbClr val="9BE1FF"/>
                </a:solidFill>
                <a:latin typeface="Exo SemiBold" pitchFamily="34" charset="0"/>
                <a:ea typeface="Exo SemiBold" pitchFamily="34" charset="-122"/>
                <a:cs typeface="Exo SemiBold" pitchFamily="34" charset="-120"/>
              </a:rPr>
              <a:t>80</a:t>
            </a:r>
            <a:endParaRPr lang="en-US" sz="3500" dirty="0"/>
          </a:p>
        </p:txBody>
      </p:sp>
      <p:sp>
        <p:nvSpPr>
          <p:cNvPr id="4" name="Shape 2"/>
          <p:cNvSpPr/>
          <p:nvPr/>
        </p:nvSpPr>
        <p:spPr>
          <a:xfrm>
            <a:off x="609585" y="2064544"/>
            <a:ext cx="917453" cy="31651"/>
          </a:xfrm>
          <a:prstGeom prst="roundRect">
            <a:avLst>
              <a:gd name="adj" fmla="val 49998"/>
            </a:avLst>
          </a:prstGeom>
          <a:solidFill>
            <a:srgbClr val="9BE1FF"/>
          </a:solidFill>
          <a:ln/>
        </p:spPr>
      </p:sp>
      <p:sp>
        <p:nvSpPr>
          <p:cNvPr id="5" name="Text 3"/>
          <p:cNvSpPr/>
          <p:nvPr/>
        </p:nvSpPr>
        <p:spPr>
          <a:xfrm>
            <a:off x="609585" y="2320131"/>
            <a:ext cx="3670208"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Distances: AB=10, AC=15, AD=20, BC=35, BD=25, CD=30</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3301449585"/>
              </p:ext>
            </p:extLst>
          </p:nvPr>
        </p:nvGraphicFramePr>
        <p:xfrm>
          <a:off x="609585" y="3038872"/>
          <a:ext cx="3670208" cy="1822206"/>
        </p:xfrm>
        <a:graphic>
          <a:graphicData uri="http://schemas.openxmlformats.org/drawingml/2006/table">
            <a:tbl>
              <a:tblPr/>
              <a:tblGrid>
                <a:gridCol w="870821">
                  <a:extLst>
                    <a:ext uri="{9D8B030D-6E8A-4147-A177-3AD203B41FA5}">
                      <a16:colId xmlns:a16="http://schemas.microsoft.com/office/drawing/2014/main" val="20000"/>
                    </a:ext>
                  </a:extLst>
                </a:gridCol>
                <a:gridCol w="2126006">
                  <a:extLst>
                    <a:ext uri="{9D8B030D-6E8A-4147-A177-3AD203B41FA5}">
                      <a16:colId xmlns:a16="http://schemas.microsoft.com/office/drawing/2014/main" val="20001"/>
                    </a:ext>
                  </a:extLst>
                </a:gridCol>
                <a:gridCol w="673381">
                  <a:extLst>
                    <a:ext uri="{9D8B030D-6E8A-4147-A177-3AD203B41FA5}">
                      <a16:colId xmlns:a16="http://schemas.microsoft.com/office/drawing/2014/main" val="20002"/>
                    </a:ext>
                  </a:extLst>
                </a:gridCol>
              </a:tblGrid>
              <a:tr h="429210">
                <a:tc>
                  <a:txBody>
                    <a:bodyPr/>
                    <a:lstStyle/>
                    <a:p>
                      <a:pPr marL="0" indent="0" algn="l">
                        <a:buNone/>
                      </a:pPr>
                      <a:r>
                        <a:rPr lang="en-US" sz="1500" dirty="0">
                          <a:solidFill>
                            <a:srgbClr val="ECECEC"/>
                          </a:solidFill>
                          <a:latin typeface="Exo" pitchFamily="34" charset="0"/>
                          <a:ea typeface="Exo" pitchFamily="34" charset="-122"/>
                          <a:cs typeface="Exo" pitchFamily="34" charset="-120"/>
                        </a:rPr>
                        <a:t>Tour</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marL="0" indent="0" algn="l">
                        <a:buNone/>
                      </a:pPr>
                      <a:r>
                        <a:rPr lang="en-US" sz="1500" dirty="0">
                          <a:solidFill>
                            <a:srgbClr val="ECECEC"/>
                          </a:solidFill>
                          <a:latin typeface="Exo" pitchFamily="34" charset="0"/>
                          <a:ea typeface="Exo" pitchFamily="34" charset="-122"/>
                          <a:cs typeface="Exo" pitchFamily="34" charset="-120"/>
                        </a:rPr>
                        <a:t>Arithmetic</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marL="0" indent="0" algn="l">
                        <a:buNone/>
                      </a:pPr>
                      <a:r>
                        <a:rPr lang="en-US" sz="1500" dirty="0">
                          <a:solidFill>
                            <a:srgbClr val="ECECEC"/>
                          </a:solidFill>
                          <a:latin typeface="Exo" pitchFamily="34" charset="0"/>
                          <a:ea typeface="Exo" pitchFamily="34" charset="-122"/>
                          <a:cs typeface="Exo" pitchFamily="34" charset="-120"/>
                        </a:rPr>
                        <a:t>Cost</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extLst>
                  <a:ext uri="{0D108BD9-81ED-4DB2-BD59-A6C34878D82A}">
                    <a16:rowId xmlns:a16="http://schemas.microsoft.com/office/drawing/2014/main" val="10000"/>
                  </a:ext>
                </a:extLst>
              </a:tr>
              <a:tr h="699673">
                <a:tc>
                  <a:txBody>
                    <a:bodyPr/>
                    <a:lstStyle/>
                    <a:p>
                      <a:pPr marL="0" indent="0" algn="l">
                        <a:buNone/>
                      </a:pPr>
                      <a:r>
                        <a:rPr lang="en-US" sz="1500" b="1" dirty="0">
                          <a:solidFill>
                            <a:srgbClr val="D5D5D5"/>
                          </a:solidFill>
                          <a:latin typeface="Exo" pitchFamily="34" charset="0"/>
                          <a:ea typeface="Exo" pitchFamily="34" charset="-122"/>
                          <a:cs typeface="Exo" pitchFamily="34" charset="-120"/>
                        </a:rPr>
                        <a:t>1</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marL="0" indent="0" algn="l">
                        <a:buNone/>
                      </a:pPr>
                      <a:r>
                        <a:rPr lang="en-US" sz="1500" dirty="0">
                          <a:solidFill>
                            <a:srgbClr val="D5D5D5"/>
                          </a:solidFill>
                          <a:latin typeface="Exo" pitchFamily="34" charset="0"/>
                          <a:ea typeface="Exo" pitchFamily="34" charset="-122"/>
                          <a:cs typeface="Exo" pitchFamily="34" charset="-120"/>
                        </a:rPr>
                        <a:t>A → B → D → C → A</a:t>
                      </a:r>
                      <a:endParaRPr lang="en-US" sz="1500" dirty="0">
                        <a:latin typeface="Exo" charset="0"/>
                        <a:ea typeface="Exo" charset="0"/>
                        <a:cs typeface="Exo" charset="0"/>
                      </a:endParaRPr>
                    </a:p>
                    <a:p>
                      <a:pPr marL="0" indent="0" algn="l">
                        <a:buNone/>
                      </a:pPr>
                      <a:r>
                        <a:rPr lang="en-US" sz="1500" dirty="0">
                          <a:solidFill>
                            <a:srgbClr val="D5D5D5"/>
                          </a:solidFill>
                          <a:latin typeface="Exo" pitchFamily="34" charset="0"/>
                          <a:ea typeface="Exo" pitchFamily="34" charset="-122"/>
                          <a:cs typeface="Exo" pitchFamily="34" charset="-120"/>
                        </a:rPr>
                        <a:t>10 + 25 + 30 + 15</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marL="0" indent="0" algn="l">
                        <a:buNone/>
                      </a:pPr>
                      <a:r>
                        <a:rPr lang="en-US" sz="1500" b="1" dirty="0">
                          <a:solidFill>
                            <a:srgbClr val="000000"/>
                          </a:solidFill>
                          <a:latin typeface="Exo" pitchFamily="34" charset="0"/>
                          <a:ea typeface="Exo" pitchFamily="34" charset="-122"/>
                          <a:cs typeface="Exo" pitchFamily="34" charset="-120"/>
                        </a:rPr>
                        <a:t>80</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9BE1FF"/>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solidFill>
                      <a:srgbClr val="9BE1FF"/>
                    </a:solidFill>
                  </a:tcPr>
                </a:tc>
                <a:extLst>
                  <a:ext uri="{0D108BD9-81ED-4DB2-BD59-A6C34878D82A}">
                    <a16:rowId xmlns:a16="http://schemas.microsoft.com/office/drawing/2014/main" val="10001"/>
                  </a:ext>
                </a:extLst>
              </a:tr>
              <a:tr h="693323">
                <a:tc>
                  <a:txBody>
                    <a:bodyPr/>
                    <a:lstStyle/>
                    <a:p>
                      <a:pPr marL="0" indent="0" algn="l">
                        <a:buNone/>
                      </a:pPr>
                      <a:r>
                        <a:rPr lang="en-US" sz="1500" dirty="0">
                          <a:solidFill>
                            <a:srgbClr val="D5D5D5"/>
                          </a:solidFill>
                          <a:latin typeface="Exo" pitchFamily="34" charset="0"/>
                          <a:ea typeface="Exo" pitchFamily="34" charset="-122"/>
                          <a:cs typeface="Exo" pitchFamily="34" charset="-120"/>
                        </a:rPr>
                        <a:t>2</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marL="0" indent="0" algn="l">
                        <a:buNone/>
                      </a:pPr>
                      <a:r>
                        <a:rPr lang="en-US" sz="1500" dirty="0">
                          <a:solidFill>
                            <a:srgbClr val="D5D5D5"/>
                          </a:solidFill>
                          <a:latin typeface="Exo" pitchFamily="34" charset="0"/>
                          <a:ea typeface="Exo" pitchFamily="34" charset="-122"/>
                          <a:cs typeface="Exo" pitchFamily="34" charset="-120"/>
                        </a:rPr>
                        <a:t>A → C → B → D → A</a:t>
                      </a:r>
                      <a:endParaRPr lang="en-US" sz="1500" dirty="0">
                        <a:latin typeface="Exo" charset="0"/>
                        <a:ea typeface="Exo" charset="0"/>
                        <a:cs typeface="Exo" charset="0"/>
                      </a:endParaRPr>
                    </a:p>
                    <a:p>
                      <a:pPr marL="0" indent="0" algn="l">
                        <a:buNone/>
                      </a:pPr>
                      <a:r>
                        <a:rPr lang="en-US" sz="1500" dirty="0">
                          <a:solidFill>
                            <a:srgbClr val="D5D5D5"/>
                          </a:solidFill>
                          <a:latin typeface="Exo" pitchFamily="34" charset="0"/>
                          <a:ea typeface="Exo" pitchFamily="34" charset="-122"/>
                          <a:cs typeface="Exo" pitchFamily="34" charset="-120"/>
                        </a:rPr>
                        <a:t>15 + 35 + 25 + 20</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marL="0" indent="0" algn="l">
                        <a:buNone/>
                      </a:pPr>
                      <a:r>
                        <a:rPr lang="en-US" sz="1500" dirty="0">
                          <a:solidFill>
                            <a:srgbClr val="D5D5D5"/>
                          </a:solidFill>
                          <a:latin typeface="Exo" pitchFamily="34" charset="0"/>
                          <a:ea typeface="Exo" pitchFamily="34" charset="-122"/>
                          <a:cs typeface="Exo" pitchFamily="34" charset="-120"/>
                        </a:rPr>
                        <a:t>95</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Text 4"/>
          <p:cNvSpPr/>
          <p:nvPr/>
        </p:nvSpPr>
        <p:spPr>
          <a:xfrm>
            <a:off x="609585" y="5040447"/>
            <a:ext cx="4279793" cy="184348"/>
          </a:xfrm>
          <a:prstGeom prst="rect">
            <a:avLst/>
          </a:prstGeom>
          <a:noFill/>
          <a:ln/>
        </p:spPr>
        <p:txBody>
          <a:bodyPr wrap="none" lIns="0" tIns="0" rIns="0" bIns="0" rtlCol="0" anchor="t"/>
          <a:lstStyle/>
          <a:p>
            <a:pPr marL="0" indent="0" algn="l">
              <a:lnSpc>
                <a:spcPct val="110000"/>
              </a:lnSpc>
              <a:buNone/>
            </a:pPr>
            <a:r>
              <a:rPr lang="en-US" sz="1100" kern="100" spc="11" dirty="0">
                <a:solidFill>
                  <a:srgbClr val="9D9D9D"/>
                </a:solidFill>
                <a:latin typeface="Exo" pitchFamily="34" charset="0"/>
                <a:ea typeface="Exo" pitchFamily="34" charset="-122"/>
                <a:cs typeface="Exo" pitchFamily="34" charset="-120"/>
              </a:rPr>
              <a:t>For this instance, Candidate 1 is optimal.</a:t>
            </a:r>
            <a:endParaRPr lang="en-US" sz="1100" dirty="0"/>
          </a:p>
        </p:txBody>
      </p:sp>
      <p:sp>
        <p:nvSpPr>
          <p:cNvPr id="8" name="Shape 5"/>
          <p:cNvSpPr/>
          <p:nvPr/>
        </p:nvSpPr>
        <p:spPr>
          <a:xfrm>
            <a:off x="5346566" y="0"/>
            <a:ext cx="6845129" cy="6858000"/>
          </a:xfrm>
          <a:prstGeom prst="rect">
            <a:avLst/>
          </a:prstGeom>
          <a:solidFill>
            <a:srgbClr val="0E1F40"/>
          </a:solidFill>
          <a:ln/>
        </p:spPr>
      </p:sp>
      <p:sp>
        <p:nvSpPr>
          <p:cNvPr id="9" name="Text 6"/>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04</a:t>
            </a:r>
            <a:endParaRPr lang="en-US" sz="1050" dirty="0"/>
          </a:p>
        </p:txBody>
      </p:sp>
      <p:sp>
        <p:nvSpPr>
          <p:cNvPr id="10" name="Shape 7"/>
          <p:cNvSpPr/>
          <p:nvPr/>
        </p:nvSpPr>
        <p:spPr>
          <a:xfrm>
            <a:off x="6380301" y="758428"/>
            <a:ext cx="1068162" cy="1068189"/>
          </a:xfrm>
          <a:prstGeom prst="ellipse">
            <a:avLst/>
          </a:prstGeom>
          <a:solidFill>
            <a:srgbClr val="4A86FF"/>
          </a:solidFill>
          <a:ln/>
        </p:spPr>
      </p:sp>
      <p:sp>
        <p:nvSpPr>
          <p:cNvPr id="11" name="Shape 8"/>
          <p:cNvSpPr/>
          <p:nvPr/>
        </p:nvSpPr>
        <p:spPr>
          <a:xfrm>
            <a:off x="9644417" y="758428"/>
            <a:ext cx="1068162" cy="1068189"/>
          </a:xfrm>
          <a:prstGeom prst="ellipse">
            <a:avLst/>
          </a:prstGeom>
          <a:solidFill>
            <a:srgbClr val="4A86FF"/>
          </a:solidFill>
          <a:ln/>
        </p:spPr>
      </p:sp>
      <p:sp>
        <p:nvSpPr>
          <p:cNvPr id="12" name="Shape 9"/>
          <p:cNvSpPr/>
          <p:nvPr/>
        </p:nvSpPr>
        <p:spPr>
          <a:xfrm>
            <a:off x="6380301" y="3280668"/>
            <a:ext cx="1068162" cy="1068189"/>
          </a:xfrm>
          <a:prstGeom prst="ellipse">
            <a:avLst/>
          </a:prstGeom>
          <a:solidFill>
            <a:srgbClr val="4A86FF"/>
          </a:solidFill>
          <a:ln/>
        </p:spPr>
      </p:sp>
      <p:sp>
        <p:nvSpPr>
          <p:cNvPr id="13" name="Shape 10"/>
          <p:cNvSpPr/>
          <p:nvPr/>
        </p:nvSpPr>
        <p:spPr>
          <a:xfrm>
            <a:off x="9644417" y="3280668"/>
            <a:ext cx="1068162" cy="1068189"/>
          </a:xfrm>
          <a:prstGeom prst="ellipse">
            <a:avLst/>
          </a:prstGeom>
          <a:solidFill>
            <a:srgbClr val="4A86FF"/>
          </a:solidFill>
          <a:ln/>
        </p:spPr>
      </p:sp>
      <p:sp>
        <p:nvSpPr>
          <p:cNvPr id="14" name="Text 11"/>
          <p:cNvSpPr/>
          <p:nvPr/>
        </p:nvSpPr>
        <p:spPr>
          <a:xfrm>
            <a:off x="6446974" y="1084858"/>
            <a:ext cx="934816" cy="419100"/>
          </a:xfrm>
          <a:prstGeom prst="rect">
            <a:avLst/>
          </a:prstGeom>
          <a:noFill/>
          <a:ln/>
        </p:spPr>
        <p:txBody>
          <a:bodyPr wrap="none" lIns="0" tIns="0" rIns="0" bIns="0" rtlCol="0" anchor="t"/>
          <a:lstStyle/>
          <a:p>
            <a:pPr marL="0" indent="0" algn="ctr">
              <a:lnSpc>
                <a:spcPct val="110000"/>
              </a:lnSpc>
              <a:buNone/>
            </a:pPr>
            <a:r>
              <a:rPr lang="en-US" sz="2500" dirty="0">
                <a:solidFill>
                  <a:srgbClr val="D5D5D5"/>
                </a:solidFill>
                <a:latin typeface="Exo" pitchFamily="34" charset="0"/>
                <a:ea typeface="Exo" pitchFamily="34" charset="-122"/>
                <a:cs typeface="Exo" pitchFamily="34" charset="-120"/>
              </a:rPr>
              <a:t>A</a:t>
            </a:r>
            <a:endParaRPr lang="en-US" sz="2500" dirty="0"/>
          </a:p>
        </p:txBody>
      </p:sp>
      <p:sp>
        <p:nvSpPr>
          <p:cNvPr id="15" name="Text 12"/>
          <p:cNvSpPr/>
          <p:nvPr/>
        </p:nvSpPr>
        <p:spPr>
          <a:xfrm>
            <a:off x="9711090" y="1084858"/>
            <a:ext cx="934816" cy="419100"/>
          </a:xfrm>
          <a:prstGeom prst="rect">
            <a:avLst/>
          </a:prstGeom>
          <a:noFill/>
          <a:ln/>
        </p:spPr>
        <p:txBody>
          <a:bodyPr wrap="none" lIns="0" tIns="0" rIns="0" bIns="0" rtlCol="0" anchor="t"/>
          <a:lstStyle/>
          <a:p>
            <a:pPr marL="0" indent="0" algn="ctr">
              <a:lnSpc>
                <a:spcPct val="110000"/>
              </a:lnSpc>
              <a:buNone/>
            </a:pPr>
            <a:r>
              <a:rPr lang="en-US" sz="2500" dirty="0">
                <a:solidFill>
                  <a:srgbClr val="D5D5D5"/>
                </a:solidFill>
                <a:latin typeface="Exo" pitchFamily="34" charset="0"/>
                <a:ea typeface="Exo" pitchFamily="34" charset="-122"/>
                <a:cs typeface="Exo" pitchFamily="34" charset="-120"/>
              </a:rPr>
              <a:t>B</a:t>
            </a:r>
            <a:endParaRPr lang="en-US" sz="2500" dirty="0"/>
          </a:p>
        </p:txBody>
      </p:sp>
      <p:sp>
        <p:nvSpPr>
          <p:cNvPr id="16" name="Text 13"/>
          <p:cNvSpPr/>
          <p:nvPr/>
        </p:nvSpPr>
        <p:spPr>
          <a:xfrm>
            <a:off x="6446974" y="3607098"/>
            <a:ext cx="934816" cy="419100"/>
          </a:xfrm>
          <a:prstGeom prst="rect">
            <a:avLst/>
          </a:prstGeom>
          <a:noFill/>
          <a:ln/>
        </p:spPr>
        <p:txBody>
          <a:bodyPr wrap="none" lIns="0" tIns="0" rIns="0" bIns="0" rtlCol="0" anchor="t"/>
          <a:lstStyle/>
          <a:p>
            <a:pPr marL="0" indent="0" algn="ctr">
              <a:lnSpc>
                <a:spcPct val="110000"/>
              </a:lnSpc>
              <a:buNone/>
            </a:pPr>
            <a:r>
              <a:rPr lang="en-US" sz="2500" dirty="0">
                <a:solidFill>
                  <a:srgbClr val="D5D5D5"/>
                </a:solidFill>
                <a:latin typeface="Exo" pitchFamily="34" charset="0"/>
                <a:ea typeface="Exo" pitchFamily="34" charset="-122"/>
                <a:cs typeface="Exo" pitchFamily="34" charset="-120"/>
              </a:rPr>
              <a:t>C</a:t>
            </a:r>
            <a:endParaRPr lang="en-US" sz="2500" dirty="0"/>
          </a:p>
        </p:txBody>
      </p:sp>
      <p:sp>
        <p:nvSpPr>
          <p:cNvPr id="17" name="Text 14"/>
          <p:cNvSpPr/>
          <p:nvPr/>
        </p:nvSpPr>
        <p:spPr>
          <a:xfrm>
            <a:off x="9711090" y="3607098"/>
            <a:ext cx="934816" cy="419100"/>
          </a:xfrm>
          <a:prstGeom prst="rect">
            <a:avLst/>
          </a:prstGeom>
          <a:noFill/>
          <a:ln/>
        </p:spPr>
        <p:txBody>
          <a:bodyPr wrap="none" lIns="0" tIns="0" rIns="0" bIns="0" rtlCol="0" anchor="t"/>
          <a:lstStyle/>
          <a:p>
            <a:pPr marL="0" indent="0" algn="ctr">
              <a:lnSpc>
                <a:spcPct val="110000"/>
              </a:lnSpc>
              <a:buNone/>
            </a:pPr>
            <a:r>
              <a:rPr lang="en-US" sz="2500" dirty="0">
                <a:solidFill>
                  <a:srgbClr val="D5D5D5"/>
                </a:solidFill>
                <a:latin typeface="Exo" pitchFamily="34" charset="0"/>
                <a:ea typeface="Exo" pitchFamily="34" charset="-122"/>
                <a:cs typeface="Exo" pitchFamily="34" charset="-120"/>
              </a:rPr>
              <a:t>D</a:t>
            </a:r>
            <a:endParaRPr lang="en-US" sz="2500" dirty="0"/>
          </a:p>
        </p:txBody>
      </p:sp>
      <p:sp>
        <p:nvSpPr>
          <p:cNvPr id="18" name="Text 15"/>
          <p:cNvSpPr/>
          <p:nvPr/>
        </p:nvSpPr>
        <p:spPr>
          <a:xfrm>
            <a:off x="7714859" y="819285"/>
            <a:ext cx="1158648" cy="184348"/>
          </a:xfrm>
          <a:prstGeom prst="rect">
            <a:avLst/>
          </a:prstGeom>
          <a:noFill/>
          <a:ln/>
        </p:spPr>
        <p:txBody>
          <a:bodyPr wrap="none" lIns="0" tIns="0" rIns="0" bIns="0" rtlCol="0" anchor="t"/>
          <a:lstStyle/>
          <a:p>
            <a:pPr marL="0" indent="0" algn="ctr">
              <a:lnSpc>
                <a:spcPct val="110000"/>
              </a:lnSpc>
              <a:buNone/>
            </a:pPr>
            <a:r>
              <a:rPr lang="en-US" sz="1100" kern="100" spc="11" dirty="0">
                <a:solidFill>
                  <a:srgbClr val="D5D5D5"/>
                </a:solidFill>
                <a:latin typeface="Exo" pitchFamily="34" charset="0"/>
                <a:ea typeface="Exo" pitchFamily="34" charset="-122"/>
                <a:cs typeface="Exo" pitchFamily="34" charset="-120"/>
              </a:rPr>
              <a:t>10</a:t>
            </a:r>
            <a:endParaRPr lang="en-US" sz="1100" dirty="0"/>
          </a:p>
        </p:txBody>
      </p:sp>
      <p:sp>
        <p:nvSpPr>
          <p:cNvPr id="19" name="Text 16"/>
          <p:cNvSpPr/>
          <p:nvPr/>
        </p:nvSpPr>
        <p:spPr>
          <a:xfrm>
            <a:off x="10088806" y="2332669"/>
            <a:ext cx="1158648" cy="184348"/>
          </a:xfrm>
          <a:prstGeom prst="rect">
            <a:avLst/>
          </a:prstGeom>
          <a:noFill/>
          <a:ln/>
        </p:spPr>
        <p:txBody>
          <a:bodyPr wrap="none" lIns="0" tIns="0" rIns="0" bIns="0" rtlCol="0" anchor="t"/>
          <a:lstStyle/>
          <a:p>
            <a:pPr marL="0" indent="0" algn="ctr">
              <a:lnSpc>
                <a:spcPct val="110000"/>
              </a:lnSpc>
              <a:buNone/>
            </a:pPr>
            <a:r>
              <a:rPr lang="en-US" sz="1100" kern="100" spc="11" dirty="0">
                <a:solidFill>
                  <a:srgbClr val="D5D5D5"/>
                </a:solidFill>
                <a:latin typeface="Exo" pitchFamily="34" charset="0"/>
                <a:ea typeface="Exo" pitchFamily="34" charset="-122"/>
                <a:cs typeface="Exo" pitchFamily="34" charset="-120"/>
              </a:rPr>
              <a:t>25</a:t>
            </a:r>
            <a:endParaRPr lang="en-US" sz="1100" dirty="0"/>
          </a:p>
        </p:txBody>
      </p:sp>
      <p:sp>
        <p:nvSpPr>
          <p:cNvPr id="20" name="Text 17"/>
          <p:cNvSpPr/>
          <p:nvPr/>
        </p:nvSpPr>
        <p:spPr>
          <a:xfrm>
            <a:off x="7714859" y="4053717"/>
            <a:ext cx="1158648" cy="184348"/>
          </a:xfrm>
          <a:prstGeom prst="rect">
            <a:avLst/>
          </a:prstGeom>
          <a:noFill/>
          <a:ln/>
        </p:spPr>
        <p:txBody>
          <a:bodyPr wrap="none" lIns="0" tIns="0" rIns="0" bIns="0" rtlCol="0" anchor="t"/>
          <a:lstStyle/>
          <a:p>
            <a:pPr marL="0" indent="0" algn="ctr">
              <a:lnSpc>
                <a:spcPct val="110000"/>
              </a:lnSpc>
              <a:buNone/>
            </a:pPr>
            <a:r>
              <a:rPr lang="en-US" sz="1100" kern="100" spc="11" dirty="0">
                <a:solidFill>
                  <a:srgbClr val="D5D5D5"/>
                </a:solidFill>
                <a:latin typeface="Exo" pitchFamily="34" charset="0"/>
                <a:ea typeface="Exo" pitchFamily="34" charset="-122"/>
                <a:cs typeface="Exo" pitchFamily="34" charset="-120"/>
              </a:rPr>
              <a:t>30</a:t>
            </a:r>
            <a:endParaRPr lang="en-US" sz="1100" dirty="0"/>
          </a:p>
        </p:txBody>
      </p:sp>
      <p:sp>
        <p:nvSpPr>
          <p:cNvPr id="21" name="Text 18"/>
          <p:cNvSpPr/>
          <p:nvPr/>
        </p:nvSpPr>
        <p:spPr>
          <a:xfrm>
            <a:off x="5726763" y="2332669"/>
            <a:ext cx="1158648" cy="184348"/>
          </a:xfrm>
          <a:prstGeom prst="rect">
            <a:avLst/>
          </a:prstGeom>
          <a:noFill/>
          <a:ln/>
        </p:spPr>
        <p:txBody>
          <a:bodyPr wrap="none" lIns="0" tIns="0" rIns="0" bIns="0" rtlCol="0" anchor="t"/>
          <a:lstStyle/>
          <a:p>
            <a:pPr marL="0" indent="0" algn="ctr">
              <a:lnSpc>
                <a:spcPct val="110000"/>
              </a:lnSpc>
              <a:buNone/>
            </a:pPr>
            <a:r>
              <a:rPr lang="en-US" sz="1100" kern="100" spc="11" dirty="0">
                <a:solidFill>
                  <a:srgbClr val="D5D5D5"/>
                </a:solidFill>
                <a:latin typeface="Exo" pitchFamily="34" charset="0"/>
                <a:ea typeface="Exo" pitchFamily="34" charset="-122"/>
                <a:cs typeface="Exo" pitchFamily="34" charset="-120"/>
              </a:rPr>
              <a:t>15</a:t>
            </a:r>
            <a:endParaRPr lang="en-US" sz="1100" dirty="0"/>
          </a:p>
        </p:txBody>
      </p:sp>
      <p:sp>
        <p:nvSpPr>
          <p:cNvPr id="22" name="Shape 19"/>
          <p:cNvSpPr/>
          <p:nvPr/>
        </p:nvSpPr>
        <p:spPr>
          <a:xfrm>
            <a:off x="7329899" y="2212479"/>
            <a:ext cx="2937595" cy="582414"/>
          </a:xfrm>
          <a:prstGeom prst="roundRect">
            <a:avLst>
              <a:gd name="adj" fmla="val 6878"/>
            </a:avLst>
          </a:prstGeom>
          <a:solidFill>
            <a:srgbClr val="9BE1FF"/>
          </a:solidFill>
          <a:ln/>
        </p:spPr>
      </p:sp>
      <p:sp>
        <p:nvSpPr>
          <p:cNvPr id="23" name="Text 20"/>
          <p:cNvSpPr/>
          <p:nvPr/>
        </p:nvSpPr>
        <p:spPr>
          <a:xfrm>
            <a:off x="7177503" y="2314079"/>
            <a:ext cx="3242388" cy="379214"/>
          </a:xfrm>
          <a:prstGeom prst="rect">
            <a:avLst/>
          </a:prstGeom>
          <a:noFill/>
          <a:ln/>
        </p:spPr>
        <p:txBody>
          <a:bodyPr wrap="none" lIns="0" tIns="0" rIns="0" bIns="0" rtlCol="0" anchor="t"/>
          <a:lstStyle/>
          <a:p>
            <a:pPr marL="0" indent="0" algn="ctr">
              <a:lnSpc>
                <a:spcPct val="118000"/>
              </a:lnSpc>
              <a:buNone/>
            </a:pPr>
            <a:r>
              <a:rPr lang="en-US" sz="2100" b="1" dirty="0">
                <a:solidFill>
                  <a:srgbClr val="000000"/>
                </a:solidFill>
                <a:latin typeface="Exo Bold" pitchFamily="34" charset="0"/>
                <a:ea typeface="Exo Bold" pitchFamily="34" charset="-122"/>
                <a:cs typeface="Exo Bold" pitchFamily="34" charset="-120"/>
              </a:rPr>
              <a:t>OPTIMAL · 80</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783" y="611822"/>
            <a:ext cx="35813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B5B5B5"/>
                </a:solidFill>
                <a:latin typeface="Fira Mono Medium" pitchFamily="34" charset="0"/>
                <a:ea typeface="Fira Mono Medium" pitchFamily="34" charset="-122"/>
                <a:cs typeface="Fira Mono Medium" pitchFamily="34" charset="-120"/>
              </a:rPr>
              <a:t>WHY SEARCH IS HARD</a:t>
            </a:r>
            <a:endParaRPr lang="en-US" sz="1100" dirty="0"/>
          </a:p>
        </p:txBody>
      </p:sp>
      <p:sp>
        <p:nvSpPr>
          <p:cNvPr id="3" name="Text 1"/>
          <p:cNvSpPr/>
          <p:nvPr/>
        </p:nvSpPr>
        <p:spPr>
          <a:xfrm>
            <a:off x="685783" y="904042"/>
            <a:ext cx="3276518" cy="951111"/>
          </a:xfrm>
          <a:prstGeom prst="rect">
            <a:avLst/>
          </a:prstGeom>
          <a:noFill/>
          <a:ln/>
        </p:spPr>
        <p:txBody>
          <a:bodyPr wrap="square" lIns="0" tIns="0" rIns="0" bIns="0" rtlCol="0" anchor="t">
            <a:normAutofit lnSpcReduction="10000"/>
          </a:bodyPr>
          <a:lstStyle/>
          <a:p>
            <a:pPr marL="0" indent="0" algn="l">
              <a:lnSpc>
                <a:spcPct val="89000"/>
              </a:lnSpc>
              <a:buNone/>
            </a:pPr>
            <a:r>
              <a:rPr lang="en-US" sz="3500" kern="100" spc="-42" dirty="0">
                <a:solidFill>
                  <a:srgbClr val="ECECEC"/>
                </a:solidFill>
                <a:latin typeface="Exo SemiBold" pitchFamily="34" charset="0"/>
                <a:ea typeface="Exo SemiBold" pitchFamily="34" charset="-122"/>
                <a:cs typeface="Exo SemiBold" pitchFamily="34" charset="-120"/>
              </a:rPr>
              <a:t>The search space explodes</a:t>
            </a:r>
            <a:endParaRPr lang="en-US" sz="3500" dirty="0"/>
          </a:p>
        </p:txBody>
      </p:sp>
      <p:sp>
        <p:nvSpPr>
          <p:cNvPr id="4" name="Shape 2"/>
          <p:cNvSpPr/>
          <p:nvPr/>
        </p:nvSpPr>
        <p:spPr>
          <a:xfrm>
            <a:off x="685783" y="2064544"/>
            <a:ext cx="819130" cy="31651"/>
          </a:xfrm>
          <a:prstGeom prst="roundRect">
            <a:avLst>
              <a:gd name="adj" fmla="val 49998"/>
            </a:avLst>
          </a:prstGeom>
          <a:solidFill>
            <a:srgbClr val="9BE1FF"/>
          </a:solidFill>
          <a:ln/>
        </p:spPr>
      </p:sp>
      <p:sp>
        <p:nvSpPr>
          <p:cNvPr id="5" name="Text 3"/>
          <p:cNvSpPr/>
          <p:nvPr/>
        </p:nvSpPr>
        <p:spPr>
          <a:xfrm>
            <a:off x="685783" y="2256631"/>
            <a:ext cx="3276518" cy="973634"/>
          </a:xfrm>
          <a:prstGeom prst="rect">
            <a:avLst/>
          </a:prstGeom>
          <a:noFill/>
          <a:ln/>
        </p:spPr>
        <p:txBody>
          <a:bodyPr wrap="square" lIns="0" tIns="0" rIns="0" bIns="0" rtlCol="0" anchor="t">
            <a:normAutofit/>
          </a:bodyPr>
          <a:lstStyle/>
          <a:p>
            <a:pPr marL="0" indent="0" algn="l">
              <a:lnSpc>
                <a:spcPct val="118000"/>
              </a:lnSpc>
              <a:buNone/>
            </a:pPr>
            <a:r>
              <a:rPr lang="en-US" sz="1800" dirty="0">
                <a:solidFill>
                  <a:srgbClr val="D5D5D5"/>
                </a:solidFill>
                <a:latin typeface="Exo" pitchFamily="34" charset="0"/>
                <a:ea typeface="Exo" pitchFamily="34" charset="-122"/>
                <a:cs typeface="Exo" pitchFamily="34" charset="-120"/>
              </a:rPr>
              <a:t>Fix the start city to A. The remaining cities can still be arranged in many orders.</a:t>
            </a:r>
            <a:endParaRPr lang="en-US" sz="1800" dirty="0"/>
          </a:p>
        </p:txBody>
      </p:sp>
      <p:sp>
        <p:nvSpPr>
          <p:cNvPr id="6" name="Text 4"/>
          <p:cNvSpPr/>
          <p:nvPr/>
        </p:nvSpPr>
        <p:spPr>
          <a:xfrm>
            <a:off x="685783" y="3366472"/>
            <a:ext cx="3276518"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D5D5D5"/>
                </a:solidFill>
                <a:latin typeface="Michroma" pitchFamily="34" charset="0"/>
                <a:ea typeface="Michroma" pitchFamily="34" charset="-122"/>
                <a:cs typeface="Michroma" pitchFamily="34" charset="-120"/>
              </a:rPr>
              <a:t>DIRECTED TOURS</a:t>
            </a:r>
            <a:endParaRPr lang="en-US" sz="1200" dirty="0"/>
          </a:p>
        </p:txBody>
      </p:sp>
      <p:sp>
        <p:nvSpPr>
          <p:cNvPr id="7" name="Text 5"/>
          <p:cNvSpPr/>
          <p:nvPr/>
        </p:nvSpPr>
        <p:spPr>
          <a:xfrm>
            <a:off x="685783" y="3685480"/>
            <a:ext cx="3276518" cy="27047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(n−1)!</a:t>
            </a:r>
            <a:endParaRPr lang="en-US" sz="1500" dirty="0"/>
          </a:p>
        </p:txBody>
      </p:sp>
      <p:sp>
        <p:nvSpPr>
          <p:cNvPr id="8" name="Text 6"/>
          <p:cNvSpPr/>
          <p:nvPr/>
        </p:nvSpPr>
        <p:spPr>
          <a:xfrm>
            <a:off x="685783" y="4130258"/>
            <a:ext cx="3276518"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D5D5D5"/>
                </a:solidFill>
                <a:latin typeface="Michroma" pitchFamily="34" charset="0"/>
                <a:ea typeface="Michroma" pitchFamily="34" charset="-122"/>
                <a:cs typeface="Michroma" pitchFamily="34" charset="-120"/>
              </a:rPr>
              <a:t>SYMMETRIC DISTANCES</a:t>
            </a:r>
            <a:endParaRPr lang="en-US" sz="1200" dirty="0"/>
          </a:p>
        </p:txBody>
      </p:sp>
      <p:sp>
        <p:nvSpPr>
          <p:cNvPr id="9" name="Text 7"/>
          <p:cNvSpPr/>
          <p:nvPr/>
        </p:nvSpPr>
        <p:spPr>
          <a:xfrm>
            <a:off x="685783" y="4449266"/>
            <a:ext cx="3276518" cy="27047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Reverse tours duplicate each other.</a:t>
            </a:r>
            <a:endParaRPr lang="en-US" sz="1500" dirty="0"/>
          </a:p>
        </p:txBody>
      </p:sp>
      <p:sp>
        <p:nvSpPr>
          <p:cNvPr id="10" name="Text 8"/>
          <p:cNvSpPr/>
          <p:nvPr/>
        </p:nvSpPr>
        <p:spPr>
          <a:xfrm>
            <a:off x="685783" y="4894044"/>
            <a:ext cx="3276518"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D5D5D5"/>
                </a:solidFill>
                <a:latin typeface="Michroma" pitchFamily="34" charset="0"/>
                <a:ea typeface="Michroma" pitchFamily="34" charset="-122"/>
                <a:cs typeface="Michroma" pitchFamily="34" charset="-120"/>
              </a:rPr>
              <a:t>UNIQUE TOURS</a:t>
            </a:r>
            <a:endParaRPr lang="en-US" sz="1200" dirty="0"/>
          </a:p>
        </p:txBody>
      </p:sp>
      <p:sp>
        <p:nvSpPr>
          <p:cNvPr id="11" name="Text 9"/>
          <p:cNvSpPr/>
          <p:nvPr/>
        </p:nvSpPr>
        <p:spPr>
          <a:xfrm>
            <a:off x="685783" y="5213052"/>
            <a:ext cx="3276518" cy="270470"/>
          </a:xfrm>
          <a:prstGeom prst="rect">
            <a:avLst/>
          </a:prstGeom>
          <a:noFill/>
          <a:ln/>
        </p:spPr>
        <p:txBody>
          <a:bodyPr wrap="none" lIns="0" tIns="0" rIns="0" bIns="0" rtlCol="0" anchor="t"/>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(n−1)! / 2</a:t>
            </a:r>
            <a:endParaRPr lang="en-US" sz="1500" dirty="0"/>
          </a:p>
        </p:txBody>
      </p:sp>
      <p:pic>
        <p:nvPicPr>
          <p:cNvPr id="12" name="Image 0" descr="preencoded.png"/>
          <p:cNvPicPr>
            <a:picLocks noChangeAspect="1"/>
          </p:cNvPicPr>
          <p:nvPr/>
        </p:nvPicPr>
        <p:blipFill>
          <a:blip r:embed="rId3"/>
          <a:stretch>
            <a:fillRect/>
          </a:stretch>
        </p:blipFill>
        <p:spPr>
          <a:xfrm>
            <a:off x="4571886" y="482600"/>
            <a:ext cx="7061023" cy="4124226"/>
          </a:xfrm>
          <a:prstGeom prst="rect">
            <a:avLst/>
          </a:prstGeom>
        </p:spPr>
      </p:pic>
      <p:sp>
        <p:nvSpPr>
          <p:cNvPr id="13" name="Text 10"/>
          <p:cNvSpPr/>
          <p:nvPr/>
        </p:nvSpPr>
        <p:spPr>
          <a:xfrm>
            <a:off x="4571886" y="4687725"/>
            <a:ext cx="7619809" cy="184348"/>
          </a:xfrm>
          <a:prstGeom prst="rect">
            <a:avLst/>
          </a:prstGeom>
          <a:noFill/>
          <a:ln/>
        </p:spPr>
        <p:txBody>
          <a:bodyPr wrap="none" lIns="0" tIns="0" rIns="0" bIns="0" rtlCol="0" anchor="t"/>
          <a:lstStyle/>
          <a:p>
            <a:pPr marL="0" indent="0" algn="l">
              <a:lnSpc>
                <a:spcPct val="110000"/>
              </a:lnSpc>
              <a:buNone/>
            </a:pPr>
            <a:r>
              <a:rPr lang="en-US" sz="1100" kern="100" spc="11" dirty="0">
                <a:solidFill>
                  <a:srgbClr val="9D9D9D"/>
                </a:solidFill>
                <a:latin typeface="Exo" pitchFamily="34" charset="0"/>
                <a:ea typeface="Exo" pitchFamily="34" charset="-122"/>
                <a:cs typeface="Exo" pitchFamily="34" charset="-120"/>
              </a:rPr>
              <a:t>Unique tours after fixing A: 4 → 6 · 6 → 60 · 10 → 181,440</a:t>
            </a:r>
            <a:endParaRPr lang="en-US" sz="1100" dirty="0"/>
          </a:p>
        </p:txBody>
      </p:sp>
      <p:sp>
        <p:nvSpPr>
          <p:cNvPr id="14" name="Text 11"/>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5783" y="560025"/>
            <a:ext cx="7238819" cy="147538"/>
          </a:xfrm>
          <a:prstGeom prst="rect">
            <a:avLst/>
          </a:prstGeom>
          <a:noFill/>
          <a:ln/>
        </p:spPr>
        <p:txBody>
          <a:bodyPr wrap="none" lIns="0" tIns="0" rIns="0" bIns="0" rtlCol="0" anchor="t"/>
          <a:lstStyle/>
          <a:p>
            <a:pPr marL="0" indent="0" algn="l">
              <a:lnSpc>
                <a:spcPct val="108000"/>
              </a:lnSpc>
              <a:buNone/>
            </a:pPr>
            <a:r>
              <a:rPr lang="en-US" sz="900" kern="100" spc="76" dirty="0">
                <a:solidFill>
                  <a:srgbClr val="B5B5B5"/>
                </a:solidFill>
                <a:latin typeface="Fira Mono Medium" pitchFamily="34" charset="0"/>
                <a:ea typeface="Fira Mono Medium" pitchFamily="34" charset="-122"/>
                <a:cs typeface="Fira Mono Medium" pitchFamily="34" charset="-120"/>
              </a:rPr>
              <a:t>BASELINE METHOD</a:t>
            </a:r>
            <a:endParaRPr lang="en-US" sz="900" dirty="0"/>
          </a:p>
        </p:txBody>
      </p:sp>
      <p:sp>
        <p:nvSpPr>
          <p:cNvPr id="3" name="Text 1"/>
          <p:cNvSpPr/>
          <p:nvPr/>
        </p:nvSpPr>
        <p:spPr>
          <a:xfrm>
            <a:off x="685783" y="785880"/>
            <a:ext cx="6629234" cy="386259"/>
          </a:xfrm>
          <a:prstGeom prst="rect">
            <a:avLst/>
          </a:prstGeom>
          <a:noFill/>
          <a:ln/>
        </p:spPr>
        <p:txBody>
          <a:bodyPr wrap="none" lIns="0" tIns="0" rIns="0" bIns="0" rtlCol="0" anchor="t"/>
          <a:lstStyle/>
          <a:p>
            <a:pPr marL="0" indent="0" algn="l">
              <a:lnSpc>
                <a:spcPct val="89000"/>
              </a:lnSpc>
              <a:buNone/>
            </a:pPr>
            <a:r>
              <a:rPr lang="en-US" sz="2850" kern="100" spc="-34" dirty="0">
                <a:solidFill>
                  <a:srgbClr val="ECECEC"/>
                </a:solidFill>
                <a:latin typeface="Exo SemiBold" pitchFamily="34" charset="0"/>
                <a:ea typeface="Exo SemiBold" pitchFamily="34" charset="-122"/>
                <a:cs typeface="Exo SemiBold" pitchFamily="34" charset="-120"/>
              </a:rPr>
              <a:t>Brute force: exhaustive, exact, expensive</a:t>
            </a:r>
            <a:endParaRPr lang="en-US" sz="2850" dirty="0"/>
          </a:p>
        </p:txBody>
      </p:sp>
      <p:sp>
        <p:nvSpPr>
          <p:cNvPr id="4" name="Shape 2"/>
          <p:cNvSpPr/>
          <p:nvPr/>
        </p:nvSpPr>
        <p:spPr>
          <a:xfrm>
            <a:off x="685783" y="1313259"/>
            <a:ext cx="1657309" cy="19050"/>
          </a:xfrm>
          <a:prstGeom prst="roundRect">
            <a:avLst>
              <a:gd name="adj" fmla="val 49999"/>
            </a:avLst>
          </a:prstGeom>
          <a:solidFill>
            <a:srgbClr val="9BE1FF"/>
          </a:solidFill>
          <a:ln/>
        </p:spPr>
      </p:sp>
      <p:sp>
        <p:nvSpPr>
          <p:cNvPr id="5" name="Text 3"/>
          <p:cNvSpPr/>
          <p:nvPr/>
        </p:nvSpPr>
        <p:spPr>
          <a:xfrm>
            <a:off x="685783" y="1488182"/>
            <a:ext cx="767239" cy="154682"/>
          </a:xfrm>
          <a:prstGeom prst="rect">
            <a:avLst/>
          </a:prstGeom>
          <a:noFill/>
          <a:ln/>
        </p:spPr>
        <p:txBody>
          <a:bodyPr wrap="none" lIns="0" tIns="0" rIns="0" bIns="0" rtlCol="0" anchor="t"/>
          <a:lstStyle/>
          <a:p>
            <a:pPr marL="0" indent="0" algn="l">
              <a:lnSpc>
                <a:spcPct val="83000"/>
              </a:lnSpc>
              <a:buNone/>
            </a:pPr>
            <a:r>
              <a:rPr lang="en-US" sz="1200" dirty="0">
                <a:solidFill>
                  <a:srgbClr val="9BE1FF"/>
                </a:solidFill>
                <a:latin typeface="Exo SemiBold" pitchFamily="34" charset="0"/>
                <a:ea typeface="Exo SemiBold" pitchFamily="34" charset="-122"/>
                <a:cs typeface="Exo SemiBold" pitchFamily="34" charset="-120"/>
              </a:rPr>
              <a:t>01</a:t>
            </a:r>
            <a:endParaRPr lang="en-US" sz="1200" dirty="0"/>
          </a:p>
        </p:txBody>
      </p:sp>
      <p:sp>
        <p:nvSpPr>
          <p:cNvPr id="6" name="Shape 4"/>
          <p:cNvSpPr/>
          <p:nvPr/>
        </p:nvSpPr>
        <p:spPr>
          <a:xfrm>
            <a:off x="685783" y="1704777"/>
            <a:ext cx="1428714" cy="19050"/>
          </a:xfrm>
          <a:prstGeom prst="rect">
            <a:avLst/>
          </a:prstGeom>
          <a:solidFill>
            <a:srgbClr val="9BE1FF"/>
          </a:solidFill>
          <a:ln/>
        </p:spPr>
      </p:sp>
      <p:sp>
        <p:nvSpPr>
          <p:cNvPr id="7" name="Text 5"/>
          <p:cNvSpPr/>
          <p:nvPr/>
        </p:nvSpPr>
        <p:spPr>
          <a:xfrm>
            <a:off x="685783" y="1818598"/>
            <a:ext cx="1428714" cy="258663"/>
          </a:xfrm>
          <a:prstGeom prst="rect">
            <a:avLst/>
          </a:prstGeom>
          <a:noFill/>
          <a:ln/>
        </p:spPr>
        <p:txBody>
          <a:bodyPr wrap="none" lIns="0" tIns="0" rIns="0" bIns="0" rtlCol="0" anchor="t"/>
          <a:lstStyle/>
          <a:p>
            <a:pPr marL="0" indent="0" algn="l">
              <a:lnSpc>
                <a:spcPct val="110000"/>
              </a:lnSpc>
              <a:buNone/>
            </a:pPr>
            <a:r>
              <a:rPr lang="en-US" sz="1550" dirty="0">
                <a:solidFill>
                  <a:srgbClr val="D5D5D5"/>
                </a:solidFill>
                <a:latin typeface="Exo" pitchFamily="34" charset="0"/>
                <a:ea typeface="Exo" pitchFamily="34" charset="-122"/>
                <a:cs typeface="Exo" pitchFamily="34" charset="-120"/>
              </a:rPr>
              <a:t>Generate</a:t>
            </a:r>
            <a:endParaRPr lang="en-US" sz="1550" dirty="0"/>
          </a:p>
        </p:txBody>
      </p:sp>
      <p:sp>
        <p:nvSpPr>
          <p:cNvPr id="8" name="Text 6"/>
          <p:cNvSpPr/>
          <p:nvPr/>
        </p:nvSpPr>
        <p:spPr>
          <a:xfrm>
            <a:off x="685783" y="2172037"/>
            <a:ext cx="1428714" cy="397867"/>
          </a:xfrm>
          <a:prstGeom prst="rect">
            <a:avLst/>
          </a:prstGeom>
          <a:noFill/>
          <a:ln/>
        </p:spPr>
        <p:txBody>
          <a:bodyPr wrap="square" lIns="0" tIns="0" rIns="0" bIns="0" rtlCol="0" anchor="t">
            <a:normAutofit/>
          </a:bodyPr>
          <a:lstStyle/>
          <a:p>
            <a:pPr marL="0" indent="0" algn="l">
              <a:lnSpc>
                <a:spcPct val="107000"/>
              </a:lnSpc>
              <a:buNone/>
            </a:pPr>
            <a:r>
              <a:rPr lang="en-US" sz="1200" dirty="0">
                <a:solidFill>
                  <a:srgbClr val="D5D5D5"/>
                </a:solidFill>
                <a:latin typeface="Exo" pitchFamily="34" charset="0"/>
                <a:ea typeface="Exo" pitchFamily="34" charset="-122"/>
                <a:cs typeface="Exo" pitchFamily="34" charset="-120"/>
              </a:rPr>
              <a:t>Every permutation after A.</a:t>
            </a:r>
            <a:endParaRPr lang="en-US" sz="1200" dirty="0"/>
          </a:p>
        </p:txBody>
      </p:sp>
      <p:sp>
        <p:nvSpPr>
          <p:cNvPr id="9" name="Text 7"/>
          <p:cNvSpPr/>
          <p:nvPr/>
        </p:nvSpPr>
        <p:spPr>
          <a:xfrm>
            <a:off x="2419289" y="1488182"/>
            <a:ext cx="801271" cy="154682"/>
          </a:xfrm>
          <a:prstGeom prst="rect">
            <a:avLst/>
          </a:prstGeom>
          <a:noFill/>
          <a:ln/>
        </p:spPr>
        <p:txBody>
          <a:bodyPr wrap="none" lIns="0" tIns="0" rIns="0" bIns="0" rtlCol="0" anchor="t"/>
          <a:lstStyle/>
          <a:p>
            <a:pPr marL="0" indent="0" algn="l">
              <a:lnSpc>
                <a:spcPct val="83000"/>
              </a:lnSpc>
              <a:buNone/>
            </a:pPr>
            <a:r>
              <a:rPr lang="en-US" sz="1200" dirty="0">
                <a:solidFill>
                  <a:srgbClr val="9BE1FF"/>
                </a:solidFill>
                <a:latin typeface="Exo SemiBold" pitchFamily="34" charset="0"/>
                <a:ea typeface="Exo SemiBold" pitchFamily="34" charset="-122"/>
                <a:cs typeface="Exo SemiBold" pitchFamily="34" charset="-120"/>
              </a:rPr>
              <a:t>02</a:t>
            </a:r>
            <a:endParaRPr lang="en-US" sz="1200" dirty="0"/>
          </a:p>
        </p:txBody>
      </p:sp>
      <p:sp>
        <p:nvSpPr>
          <p:cNvPr id="10" name="Shape 8"/>
          <p:cNvSpPr/>
          <p:nvPr/>
        </p:nvSpPr>
        <p:spPr>
          <a:xfrm>
            <a:off x="2419289" y="1704777"/>
            <a:ext cx="1428714" cy="19050"/>
          </a:xfrm>
          <a:prstGeom prst="rect">
            <a:avLst/>
          </a:prstGeom>
          <a:solidFill>
            <a:srgbClr val="9BE1FF"/>
          </a:solidFill>
          <a:ln/>
        </p:spPr>
      </p:sp>
      <p:sp>
        <p:nvSpPr>
          <p:cNvPr id="11" name="Text 9"/>
          <p:cNvSpPr/>
          <p:nvPr/>
        </p:nvSpPr>
        <p:spPr>
          <a:xfrm>
            <a:off x="2419289" y="1818598"/>
            <a:ext cx="1428714" cy="258663"/>
          </a:xfrm>
          <a:prstGeom prst="rect">
            <a:avLst/>
          </a:prstGeom>
          <a:noFill/>
          <a:ln/>
        </p:spPr>
        <p:txBody>
          <a:bodyPr wrap="none" lIns="0" tIns="0" rIns="0" bIns="0" rtlCol="0" anchor="t"/>
          <a:lstStyle/>
          <a:p>
            <a:pPr marL="0" indent="0" algn="l">
              <a:lnSpc>
                <a:spcPct val="110000"/>
              </a:lnSpc>
              <a:buNone/>
            </a:pPr>
            <a:r>
              <a:rPr lang="en-US" sz="1550" dirty="0">
                <a:solidFill>
                  <a:srgbClr val="D5D5D5"/>
                </a:solidFill>
                <a:latin typeface="Exo" pitchFamily="34" charset="0"/>
                <a:ea typeface="Exo" pitchFamily="34" charset="-122"/>
                <a:cs typeface="Exo" pitchFamily="34" charset="-120"/>
              </a:rPr>
              <a:t>Close</a:t>
            </a:r>
            <a:endParaRPr lang="en-US" sz="1550" dirty="0"/>
          </a:p>
        </p:txBody>
      </p:sp>
      <p:sp>
        <p:nvSpPr>
          <p:cNvPr id="12" name="Text 10"/>
          <p:cNvSpPr/>
          <p:nvPr/>
        </p:nvSpPr>
        <p:spPr>
          <a:xfrm>
            <a:off x="2419289" y="2172037"/>
            <a:ext cx="1428714" cy="397867"/>
          </a:xfrm>
          <a:prstGeom prst="rect">
            <a:avLst/>
          </a:prstGeom>
          <a:noFill/>
          <a:ln/>
        </p:spPr>
        <p:txBody>
          <a:bodyPr wrap="square" lIns="0" tIns="0" rIns="0" bIns="0" rtlCol="0" anchor="t">
            <a:normAutofit/>
          </a:bodyPr>
          <a:lstStyle/>
          <a:p>
            <a:pPr marL="0" indent="0" algn="l">
              <a:lnSpc>
                <a:spcPct val="107000"/>
              </a:lnSpc>
              <a:buNone/>
            </a:pPr>
            <a:r>
              <a:rPr lang="en-US" sz="1200" dirty="0">
                <a:solidFill>
                  <a:srgbClr val="D5D5D5"/>
                </a:solidFill>
                <a:latin typeface="Exo" pitchFamily="34" charset="0"/>
                <a:ea typeface="Exo" pitchFamily="34" charset="-122"/>
                <a:cs typeface="Exo" pitchFamily="34" charset="-120"/>
              </a:rPr>
              <a:t>Return each route to A.</a:t>
            </a:r>
            <a:endParaRPr lang="en-US" sz="1200" dirty="0"/>
          </a:p>
        </p:txBody>
      </p:sp>
      <p:sp>
        <p:nvSpPr>
          <p:cNvPr id="13" name="Text 11"/>
          <p:cNvSpPr/>
          <p:nvPr/>
        </p:nvSpPr>
        <p:spPr>
          <a:xfrm>
            <a:off x="4152796" y="1488182"/>
            <a:ext cx="800080" cy="154682"/>
          </a:xfrm>
          <a:prstGeom prst="rect">
            <a:avLst/>
          </a:prstGeom>
          <a:noFill/>
          <a:ln/>
        </p:spPr>
        <p:txBody>
          <a:bodyPr wrap="none" lIns="0" tIns="0" rIns="0" bIns="0" rtlCol="0" anchor="t"/>
          <a:lstStyle/>
          <a:p>
            <a:pPr marL="0" indent="0" algn="l">
              <a:lnSpc>
                <a:spcPct val="83000"/>
              </a:lnSpc>
              <a:buNone/>
            </a:pPr>
            <a:r>
              <a:rPr lang="en-US" sz="1200" dirty="0">
                <a:solidFill>
                  <a:srgbClr val="9BE1FF"/>
                </a:solidFill>
                <a:latin typeface="Exo SemiBold" pitchFamily="34" charset="0"/>
                <a:ea typeface="Exo SemiBold" pitchFamily="34" charset="-122"/>
                <a:cs typeface="Exo SemiBold" pitchFamily="34" charset="-120"/>
              </a:rPr>
              <a:t>03</a:t>
            </a:r>
            <a:endParaRPr lang="en-US" sz="1200" dirty="0"/>
          </a:p>
        </p:txBody>
      </p:sp>
      <p:sp>
        <p:nvSpPr>
          <p:cNvPr id="14" name="Shape 12"/>
          <p:cNvSpPr/>
          <p:nvPr/>
        </p:nvSpPr>
        <p:spPr>
          <a:xfrm>
            <a:off x="4152796" y="1704777"/>
            <a:ext cx="1428714" cy="19050"/>
          </a:xfrm>
          <a:prstGeom prst="rect">
            <a:avLst/>
          </a:prstGeom>
          <a:solidFill>
            <a:srgbClr val="9BE1FF"/>
          </a:solidFill>
          <a:ln/>
        </p:spPr>
      </p:sp>
      <p:sp>
        <p:nvSpPr>
          <p:cNvPr id="15" name="Text 13"/>
          <p:cNvSpPr/>
          <p:nvPr/>
        </p:nvSpPr>
        <p:spPr>
          <a:xfrm>
            <a:off x="4152796" y="1818598"/>
            <a:ext cx="1428714" cy="258663"/>
          </a:xfrm>
          <a:prstGeom prst="rect">
            <a:avLst/>
          </a:prstGeom>
          <a:noFill/>
          <a:ln/>
        </p:spPr>
        <p:txBody>
          <a:bodyPr wrap="none" lIns="0" tIns="0" rIns="0" bIns="0" rtlCol="0" anchor="t"/>
          <a:lstStyle/>
          <a:p>
            <a:pPr marL="0" indent="0" algn="l">
              <a:lnSpc>
                <a:spcPct val="110000"/>
              </a:lnSpc>
              <a:buNone/>
            </a:pPr>
            <a:r>
              <a:rPr lang="en-US" sz="1550" dirty="0">
                <a:solidFill>
                  <a:srgbClr val="D5D5D5"/>
                </a:solidFill>
                <a:latin typeface="Exo" pitchFamily="34" charset="0"/>
                <a:ea typeface="Exo" pitchFamily="34" charset="-122"/>
                <a:cs typeface="Exo" pitchFamily="34" charset="-120"/>
              </a:rPr>
              <a:t>Calculate</a:t>
            </a:r>
            <a:endParaRPr lang="en-US" sz="1550" dirty="0"/>
          </a:p>
        </p:txBody>
      </p:sp>
      <p:sp>
        <p:nvSpPr>
          <p:cNvPr id="16" name="Text 14"/>
          <p:cNvSpPr/>
          <p:nvPr/>
        </p:nvSpPr>
        <p:spPr>
          <a:xfrm>
            <a:off x="4152796" y="2172037"/>
            <a:ext cx="1428714" cy="198934"/>
          </a:xfrm>
          <a:prstGeom prst="rect">
            <a:avLst/>
          </a:prstGeom>
          <a:noFill/>
          <a:ln/>
        </p:spPr>
        <p:txBody>
          <a:bodyPr wrap="none" lIns="0" tIns="0" rIns="0" bIns="0" rtlCol="0" anchor="t"/>
          <a:lstStyle/>
          <a:p>
            <a:pPr marL="0" indent="0" algn="l">
              <a:lnSpc>
                <a:spcPct val="107000"/>
              </a:lnSpc>
              <a:buNone/>
            </a:pPr>
            <a:r>
              <a:rPr lang="en-US" sz="1200" dirty="0">
                <a:solidFill>
                  <a:srgbClr val="D5D5D5"/>
                </a:solidFill>
                <a:latin typeface="Exo" pitchFamily="34" charset="0"/>
                <a:ea typeface="Exo" pitchFamily="34" charset="-122"/>
                <a:cs typeface="Exo" pitchFamily="34" charset="-120"/>
              </a:rPr>
              <a:t>Sum its edge costs.</a:t>
            </a:r>
            <a:endParaRPr lang="en-US" sz="1200" dirty="0"/>
          </a:p>
        </p:txBody>
      </p:sp>
      <p:sp>
        <p:nvSpPr>
          <p:cNvPr id="17" name="Text 15"/>
          <p:cNvSpPr/>
          <p:nvPr/>
        </p:nvSpPr>
        <p:spPr>
          <a:xfrm>
            <a:off x="5886303" y="1488182"/>
            <a:ext cx="804545" cy="154682"/>
          </a:xfrm>
          <a:prstGeom prst="rect">
            <a:avLst/>
          </a:prstGeom>
          <a:noFill/>
          <a:ln/>
        </p:spPr>
        <p:txBody>
          <a:bodyPr wrap="none" lIns="0" tIns="0" rIns="0" bIns="0" rtlCol="0" anchor="t"/>
          <a:lstStyle/>
          <a:p>
            <a:pPr marL="0" indent="0" algn="l">
              <a:lnSpc>
                <a:spcPct val="83000"/>
              </a:lnSpc>
              <a:buNone/>
            </a:pPr>
            <a:r>
              <a:rPr lang="en-US" sz="1200" dirty="0">
                <a:solidFill>
                  <a:srgbClr val="9BE1FF"/>
                </a:solidFill>
                <a:latin typeface="Exo SemiBold" pitchFamily="34" charset="0"/>
                <a:ea typeface="Exo SemiBold" pitchFamily="34" charset="-122"/>
                <a:cs typeface="Exo SemiBold" pitchFamily="34" charset="-120"/>
              </a:rPr>
              <a:t>04</a:t>
            </a:r>
            <a:endParaRPr lang="en-US" sz="1200" dirty="0"/>
          </a:p>
        </p:txBody>
      </p:sp>
      <p:sp>
        <p:nvSpPr>
          <p:cNvPr id="18" name="Shape 16"/>
          <p:cNvSpPr/>
          <p:nvPr/>
        </p:nvSpPr>
        <p:spPr>
          <a:xfrm>
            <a:off x="5886303" y="1704777"/>
            <a:ext cx="1428714" cy="19050"/>
          </a:xfrm>
          <a:prstGeom prst="rect">
            <a:avLst/>
          </a:prstGeom>
          <a:solidFill>
            <a:srgbClr val="9BE1FF"/>
          </a:solidFill>
          <a:ln/>
        </p:spPr>
      </p:sp>
      <p:sp>
        <p:nvSpPr>
          <p:cNvPr id="19" name="Text 17"/>
          <p:cNvSpPr/>
          <p:nvPr/>
        </p:nvSpPr>
        <p:spPr>
          <a:xfrm>
            <a:off x="5886303" y="1818598"/>
            <a:ext cx="1428714" cy="258663"/>
          </a:xfrm>
          <a:prstGeom prst="rect">
            <a:avLst/>
          </a:prstGeom>
          <a:noFill/>
          <a:ln/>
        </p:spPr>
        <p:txBody>
          <a:bodyPr wrap="none" lIns="0" tIns="0" rIns="0" bIns="0" rtlCol="0" anchor="t"/>
          <a:lstStyle/>
          <a:p>
            <a:pPr marL="0" indent="0" algn="l">
              <a:lnSpc>
                <a:spcPct val="110000"/>
              </a:lnSpc>
              <a:buNone/>
            </a:pPr>
            <a:r>
              <a:rPr lang="en-US" sz="1550" dirty="0">
                <a:solidFill>
                  <a:srgbClr val="D5D5D5"/>
                </a:solidFill>
                <a:latin typeface="Exo" pitchFamily="34" charset="0"/>
                <a:ea typeface="Exo" pitchFamily="34" charset="-122"/>
                <a:cs typeface="Exo" pitchFamily="34" charset="-120"/>
              </a:rPr>
              <a:t>Keep</a:t>
            </a:r>
            <a:endParaRPr lang="en-US" sz="1550" dirty="0"/>
          </a:p>
        </p:txBody>
      </p:sp>
      <p:sp>
        <p:nvSpPr>
          <p:cNvPr id="20" name="Text 18"/>
          <p:cNvSpPr/>
          <p:nvPr/>
        </p:nvSpPr>
        <p:spPr>
          <a:xfrm>
            <a:off x="5886303" y="2172037"/>
            <a:ext cx="1428714" cy="596801"/>
          </a:xfrm>
          <a:prstGeom prst="rect">
            <a:avLst/>
          </a:prstGeom>
          <a:noFill/>
          <a:ln/>
        </p:spPr>
        <p:txBody>
          <a:bodyPr wrap="square" lIns="0" tIns="0" rIns="0" bIns="0" rtlCol="0" anchor="t">
            <a:normAutofit/>
          </a:bodyPr>
          <a:lstStyle/>
          <a:p>
            <a:pPr marL="0" indent="0" algn="l">
              <a:lnSpc>
                <a:spcPct val="107000"/>
              </a:lnSpc>
              <a:buNone/>
            </a:pPr>
            <a:r>
              <a:rPr lang="en-US" sz="1200" dirty="0">
                <a:solidFill>
                  <a:srgbClr val="D5D5D5"/>
                </a:solidFill>
                <a:latin typeface="Exo" pitchFamily="34" charset="0"/>
                <a:ea typeface="Exo" pitchFamily="34" charset="-122"/>
                <a:cs typeface="Exo" pitchFamily="34" charset="-120"/>
              </a:rPr>
              <a:t>Replace the incumbent if cheaper.</a:t>
            </a:r>
            <a:endParaRPr lang="en-US" sz="1200" dirty="0"/>
          </a:p>
        </p:txBody>
      </p:sp>
      <p:sp>
        <p:nvSpPr>
          <p:cNvPr id="21" name="Text 19"/>
          <p:cNvSpPr/>
          <p:nvPr/>
        </p:nvSpPr>
        <p:spPr>
          <a:xfrm>
            <a:off x="685783" y="2884720"/>
            <a:ext cx="7238819" cy="147538"/>
          </a:xfrm>
          <a:prstGeom prst="rect">
            <a:avLst/>
          </a:prstGeom>
          <a:noFill/>
          <a:ln/>
        </p:spPr>
        <p:txBody>
          <a:bodyPr wrap="none" lIns="0" tIns="0" rIns="0" bIns="0" rtlCol="0" anchor="t"/>
          <a:lstStyle/>
          <a:p>
            <a:pPr marL="0" indent="0" algn="l">
              <a:lnSpc>
                <a:spcPct val="108000"/>
              </a:lnSpc>
              <a:buNone/>
            </a:pPr>
            <a:r>
              <a:rPr lang="en-US" sz="900" kern="100" spc="76" dirty="0">
                <a:solidFill>
                  <a:srgbClr val="B5B5B5"/>
                </a:solidFill>
                <a:latin typeface="Fira Mono Medium" pitchFamily="34" charset="0"/>
                <a:ea typeface="Fira Mono Medium" pitchFamily="34" charset="-122"/>
                <a:cs typeface="Fira Mono Medium" pitchFamily="34" charset="-120"/>
              </a:rPr>
              <a:t>ONE CANDIDATE TOUR, STEP BY STEP</a:t>
            </a:r>
            <a:endParaRPr lang="en-US" sz="900" dirty="0"/>
          </a:p>
        </p:txBody>
      </p:sp>
      <p:pic>
        <p:nvPicPr>
          <p:cNvPr id="22" name="Image 0" descr="preencoded.png"/>
          <p:cNvPicPr>
            <a:picLocks noChangeAspect="1"/>
          </p:cNvPicPr>
          <p:nvPr/>
        </p:nvPicPr>
        <p:blipFill>
          <a:blip r:embed="rId3"/>
          <a:stretch>
            <a:fillRect/>
          </a:stretch>
        </p:blipFill>
        <p:spPr>
          <a:xfrm>
            <a:off x="685783" y="3148310"/>
            <a:ext cx="464134" cy="1428750"/>
          </a:xfrm>
          <a:prstGeom prst="rect">
            <a:avLst/>
          </a:prstGeom>
        </p:spPr>
      </p:pic>
      <p:sp>
        <p:nvSpPr>
          <p:cNvPr id="23" name="Text 20"/>
          <p:cNvSpPr/>
          <p:nvPr/>
        </p:nvSpPr>
        <p:spPr>
          <a:xfrm>
            <a:off x="1304595" y="3302992"/>
            <a:ext cx="6010422" cy="258663"/>
          </a:xfrm>
          <a:prstGeom prst="rect">
            <a:avLst/>
          </a:prstGeom>
          <a:noFill/>
          <a:ln/>
        </p:spPr>
        <p:txBody>
          <a:bodyPr wrap="none" lIns="0" tIns="0" rIns="0" bIns="0" rtlCol="0" anchor="t"/>
          <a:lstStyle/>
          <a:p>
            <a:pPr marL="0" indent="0" algn="l">
              <a:lnSpc>
                <a:spcPct val="110000"/>
              </a:lnSpc>
              <a:buNone/>
            </a:pPr>
            <a:r>
              <a:rPr lang="en-US" sz="1550" kern="100" spc="-19" dirty="0">
                <a:solidFill>
                  <a:srgbClr val="D5D5D5"/>
                </a:solidFill>
                <a:latin typeface="Exo SemiBold" pitchFamily="34" charset="0"/>
                <a:ea typeface="Exo SemiBold" pitchFamily="34" charset="-122"/>
                <a:cs typeface="Exo SemiBold" pitchFamily="34" charset="-120"/>
              </a:rPr>
              <a:t>Enumerate</a:t>
            </a:r>
            <a:endParaRPr lang="en-US" sz="1550" dirty="0"/>
          </a:p>
        </p:txBody>
      </p:sp>
      <p:sp>
        <p:nvSpPr>
          <p:cNvPr id="24" name="Text 21"/>
          <p:cNvSpPr/>
          <p:nvPr/>
        </p:nvSpPr>
        <p:spPr>
          <a:xfrm>
            <a:off x="1304595" y="3654425"/>
            <a:ext cx="6010422" cy="198934"/>
          </a:xfrm>
          <a:prstGeom prst="rect">
            <a:avLst/>
          </a:prstGeom>
          <a:noFill/>
          <a:ln/>
        </p:spPr>
        <p:txBody>
          <a:bodyPr wrap="none" lIns="0" tIns="0" rIns="0" bIns="0" rtlCol="0" anchor="t"/>
          <a:lstStyle/>
          <a:p>
            <a:pPr marL="0" indent="0" algn="l">
              <a:lnSpc>
                <a:spcPct val="107000"/>
              </a:lnSpc>
              <a:buNone/>
            </a:pPr>
            <a:r>
              <a:rPr lang="en-US" sz="1200" dirty="0">
                <a:solidFill>
                  <a:srgbClr val="D5D5D5"/>
                </a:solidFill>
                <a:latin typeface="Exo" pitchFamily="34" charset="0"/>
                <a:ea typeface="Exo" pitchFamily="34" charset="-122"/>
                <a:cs typeface="Exo" pitchFamily="34" charset="-120"/>
              </a:rPr>
              <a:t>Build the next full tour.</a:t>
            </a:r>
            <a:endParaRPr lang="en-US" sz="1200" dirty="0"/>
          </a:p>
        </p:txBody>
      </p:sp>
      <p:pic>
        <p:nvPicPr>
          <p:cNvPr id="25" name="Image 1" descr="preencoded.png"/>
          <p:cNvPicPr>
            <a:picLocks noChangeAspect="1"/>
          </p:cNvPicPr>
          <p:nvPr/>
        </p:nvPicPr>
        <p:blipFill>
          <a:blip r:embed="rId4"/>
          <a:stretch>
            <a:fillRect/>
          </a:stretch>
        </p:blipFill>
        <p:spPr>
          <a:xfrm>
            <a:off x="917850" y="4231283"/>
            <a:ext cx="464134" cy="1428750"/>
          </a:xfrm>
          <a:prstGeom prst="rect">
            <a:avLst/>
          </a:prstGeom>
        </p:spPr>
      </p:pic>
      <p:sp>
        <p:nvSpPr>
          <p:cNvPr id="26" name="Text 22"/>
          <p:cNvSpPr/>
          <p:nvPr/>
        </p:nvSpPr>
        <p:spPr>
          <a:xfrm>
            <a:off x="1536662" y="4385965"/>
            <a:ext cx="5778355" cy="258663"/>
          </a:xfrm>
          <a:prstGeom prst="rect">
            <a:avLst/>
          </a:prstGeom>
          <a:noFill/>
          <a:ln/>
        </p:spPr>
        <p:txBody>
          <a:bodyPr wrap="none" lIns="0" tIns="0" rIns="0" bIns="0" rtlCol="0" anchor="t"/>
          <a:lstStyle/>
          <a:p>
            <a:pPr marL="0" indent="0" algn="l">
              <a:lnSpc>
                <a:spcPct val="110000"/>
              </a:lnSpc>
              <a:buNone/>
            </a:pPr>
            <a:r>
              <a:rPr lang="en-US" sz="1550" kern="100" spc="-19" dirty="0">
                <a:solidFill>
                  <a:srgbClr val="D5D5D5"/>
                </a:solidFill>
                <a:latin typeface="Exo SemiBold" pitchFamily="34" charset="0"/>
                <a:ea typeface="Exo SemiBold" pitchFamily="34" charset="-122"/>
                <a:cs typeface="Exo SemiBold" pitchFamily="34" charset="-120"/>
              </a:rPr>
              <a:t>Compute</a:t>
            </a:r>
            <a:endParaRPr lang="en-US" sz="1550" dirty="0"/>
          </a:p>
        </p:txBody>
      </p:sp>
      <p:sp>
        <p:nvSpPr>
          <p:cNvPr id="27" name="Text 23"/>
          <p:cNvSpPr/>
          <p:nvPr/>
        </p:nvSpPr>
        <p:spPr>
          <a:xfrm>
            <a:off x="1536662" y="4737398"/>
            <a:ext cx="5778355" cy="198934"/>
          </a:xfrm>
          <a:prstGeom prst="rect">
            <a:avLst/>
          </a:prstGeom>
          <a:noFill/>
          <a:ln/>
        </p:spPr>
        <p:txBody>
          <a:bodyPr wrap="none" lIns="0" tIns="0" rIns="0" bIns="0" rtlCol="0" anchor="t"/>
          <a:lstStyle/>
          <a:p>
            <a:pPr marL="0" indent="0" algn="l">
              <a:lnSpc>
                <a:spcPct val="107000"/>
              </a:lnSpc>
              <a:buNone/>
            </a:pPr>
            <a:r>
              <a:rPr lang="en-US" sz="1200" dirty="0">
                <a:solidFill>
                  <a:srgbClr val="D5D5D5"/>
                </a:solidFill>
                <a:latin typeface="Exo" pitchFamily="34" charset="0"/>
                <a:ea typeface="Exo" pitchFamily="34" charset="-122"/>
                <a:cs typeface="Exo" pitchFamily="34" charset="-120"/>
              </a:rPr>
              <a:t>Sum its edge costs.</a:t>
            </a:r>
            <a:endParaRPr lang="en-US" sz="1200" dirty="0"/>
          </a:p>
        </p:txBody>
      </p:sp>
      <p:pic>
        <p:nvPicPr>
          <p:cNvPr id="28" name="Image 2" descr="preencoded.png"/>
          <p:cNvPicPr>
            <a:picLocks noChangeAspect="1"/>
          </p:cNvPicPr>
          <p:nvPr/>
        </p:nvPicPr>
        <p:blipFill>
          <a:blip r:embed="rId5"/>
          <a:stretch>
            <a:fillRect/>
          </a:stretch>
        </p:blipFill>
        <p:spPr>
          <a:xfrm>
            <a:off x="1149917" y="5314255"/>
            <a:ext cx="464134" cy="1428750"/>
          </a:xfrm>
          <a:prstGeom prst="rect">
            <a:avLst/>
          </a:prstGeom>
        </p:spPr>
      </p:pic>
      <p:sp>
        <p:nvSpPr>
          <p:cNvPr id="29" name="Text 24"/>
          <p:cNvSpPr/>
          <p:nvPr/>
        </p:nvSpPr>
        <p:spPr>
          <a:xfrm>
            <a:off x="1768728" y="5468938"/>
            <a:ext cx="5546289" cy="258663"/>
          </a:xfrm>
          <a:prstGeom prst="rect">
            <a:avLst/>
          </a:prstGeom>
          <a:noFill/>
          <a:ln/>
        </p:spPr>
        <p:txBody>
          <a:bodyPr wrap="none" lIns="0" tIns="0" rIns="0" bIns="0" rtlCol="0" anchor="t"/>
          <a:lstStyle/>
          <a:p>
            <a:pPr marL="0" indent="0" algn="l">
              <a:lnSpc>
                <a:spcPct val="110000"/>
              </a:lnSpc>
              <a:buNone/>
            </a:pPr>
            <a:r>
              <a:rPr lang="en-US" sz="1550" kern="100" spc="-19" dirty="0">
                <a:solidFill>
                  <a:srgbClr val="D5D5D5"/>
                </a:solidFill>
                <a:latin typeface="Exo SemiBold" pitchFamily="34" charset="0"/>
                <a:ea typeface="Exo SemiBold" pitchFamily="34" charset="-122"/>
                <a:cs typeface="Exo SemiBold" pitchFamily="34" charset="-120"/>
              </a:rPr>
              <a:t>Keep best</a:t>
            </a:r>
            <a:endParaRPr lang="en-US" sz="1550" dirty="0"/>
          </a:p>
        </p:txBody>
      </p:sp>
      <p:sp>
        <p:nvSpPr>
          <p:cNvPr id="30" name="Text 25"/>
          <p:cNvSpPr/>
          <p:nvPr/>
        </p:nvSpPr>
        <p:spPr>
          <a:xfrm>
            <a:off x="1768728" y="5820370"/>
            <a:ext cx="5546289" cy="198934"/>
          </a:xfrm>
          <a:prstGeom prst="rect">
            <a:avLst/>
          </a:prstGeom>
          <a:noFill/>
          <a:ln/>
        </p:spPr>
        <p:txBody>
          <a:bodyPr wrap="none" lIns="0" tIns="0" rIns="0" bIns="0" rtlCol="0" anchor="t"/>
          <a:lstStyle/>
          <a:p>
            <a:pPr marL="0" indent="0" algn="l">
              <a:lnSpc>
                <a:spcPct val="107000"/>
              </a:lnSpc>
              <a:buNone/>
            </a:pPr>
            <a:r>
              <a:rPr lang="en-US" sz="1200" dirty="0">
                <a:solidFill>
                  <a:srgbClr val="D5D5D5"/>
                </a:solidFill>
                <a:latin typeface="Exo" pitchFamily="34" charset="0"/>
                <a:ea typeface="Exo" pitchFamily="34" charset="-122"/>
                <a:cs typeface="Exo" pitchFamily="34" charset="-120"/>
              </a:rPr>
              <a:t>Store it if cheaper.</a:t>
            </a:r>
            <a:endParaRPr lang="en-US" sz="1200" dirty="0"/>
          </a:p>
        </p:txBody>
      </p:sp>
      <p:sp>
        <p:nvSpPr>
          <p:cNvPr id="31" name="Text 26"/>
          <p:cNvSpPr/>
          <p:nvPr/>
        </p:nvSpPr>
        <p:spPr>
          <a:xfrm>
            <a:off x="685783" y="6361047"/>
            <a:ext cx="7238819" cy="147538"/>
          </a:xfrm>
          <a:prstGeom prst="rect">
            <a:avLst/>
          </a:prstGeom>
          <a:noFill/>
          <a:ln/>
        </p:spPr>
        <p:txBody>
          <a:bodyPr wrap="none" lIns="0" tIns="0" rIns="0" bIns="0" rtlCol="0" anchor="t"/>
          <a:lstStyle/>
          <a:p>
            <a:pPr marL="0" indent="0" algn="l">
              <a:lnSpc>
                <a:spcPct val="108000"/>
              </a:lnSpc>
              <a:buNone/>
            </a:pPr>
            <a:r>
              <a:rPr lang="en-US" sz="900" kern="100" spc="76" dirty="0">
                <a:solidFill>
                  <a:srgbClr val="B5B5B5"/>
                </a:solidFill>
                <a:latin typeface="Fira Mono Medium" pitchFamily="34" charset="0"/>
                <a:ea typeface="Fira Mono Medium" pitchFamily="34" charset="-122"/>
                <a:cs typeface="Fira Mono Medium" pitchFamily="34" charset="-120"/>
              </a:rPr>
              <a:t>EXACT BY ENUMERATION · NO PRUNING</a:t>
            </a:r>
            <a:endParaRPr lang="en-US" sz="900" dirty="0"/>
          </a:p>
        </p:txBody>
      </p:sp>
      <p:sp>
        <p:nvSpPr>
          <p:cNvPr id="32" name="Shape 27"/>
          <p:cNvSpPr/>
          <p:nvPr/>
        </p:nvSpPr>
        <p:spPr>
          <a:xfrm>
            <a:off x="7924602" y="0"/>
            <a:ext cx="4267093" cy="6858000"/>
          </a:xfrm>
          <a:prstGeom prst="rect">
            <a:avLst/>
          </a:prstGeom>
          <a:solidFill>
            <a:srgbClr val="0E1F40"/>
          </a:solidFill>
          <a:ln/>
        </p:spPr>
      </p:sp>
      <p:sp>
        <p:nvSpPr>
          <p:cNvPr id="33" name="Text 28"/>
          <p:cNvSpPr/>
          <p:nvPr/>
        </p:nvSpPr>
        <p:spPr>
          <a:xfrm>
            <a:off x="8356391" y="407625"/>
            <a:ext cx="3835304" cy="147538"/>
          </a:xfrm>
          <a:prstGeom prst="rect">
            <a:avLst/>
          </a:prstGeom>
          <a:noFill/>
          <a:ln/>
        </p:spPr>
        <p:txBody>
          <a:bodyPr wrap="none" lIns="0" tIns="0" rIns="0" bIns="0" rtlCol="0" anchor="t"/>
          <a:lstStyle/>
          <a:p>
            <a:pPr marL="0" indent="0" algn="l">
              <a:lnSpc>
                <a:spcPct val="108000"/>
              </a:lnSpc>
              <a:buNone/>
            </a:pPr>
            <a:r>
              <a:rPr lang="en-US" sz="900" kern="100" spc="76" dirty="0">
                <a:solidFill>
                  <a:srgbClr val="D5D5D5"/>
                </a:solidFill>
                <a:latin typeface="Fira Mono Medium" pitchFamily="34" charset="0"/>
                <a:ea typeface="Fira Mono Medium" pitchFamily="34" charset="-122"/>
                <a:cs typeface="Fira Mono Medium" pitchFamily="34" charset="-120"/>
              </a:rPr>
              <a:t>BRUTE FORCE ALGORITHM</a:t>
            </a:r>
            <a:endParaRPr lang="en-US" sz="900" dirty="0"/>
          </a:p>
        </p:txBody>
      </p:sp>
      <p:sp>
        <p:nvSpPr>
          <p:cNvPr id="34" name="Shape 29"/>
          <p:cNvSpPr/>
          <p:nvPr/>
        </p:nvSpPr>
        <p:spPr>
          <a:xfrm>
            <a:off x="8356391" y="727968"/>
            <a:ext cx="3403515" cy="3031331"/>
          </a:xfrm>
          <a:prstGeom prst="roundRect">
            <a:avLst>
              <a:gd name="adj" fmla="val 377"/>
            </a:avLst>
          </a:prstGeom>
          <a:solidFill>
            <a:srgbClr val="0E1F40"/>
          </a:solidFill>
          <a:ln/>
        </p:spPr>
      </p:sp>
      <p:sp>
        <p:nvSpPr>
          <p:cNvPr id="35" name="Text 30"/>
          <p:cNvSpPr/>
          <p:nvPr/>
        </p:nvSpPr>
        <p:spPr>
          <a:xfrm>
            <a:off x="8542025" y="882650"/>
            <a:ext cx="3032248" cy="2721967"/>
          </a:xfrm>
          <a:prstGeom prst="rect">
            <a:avLst/>
          </a:prstGeom>
          <a:noFill/>
          <a:ln/>
        </p:spPr>
        <p:txBody>
          <a:bodyPr wrap="square" lIns="0" tIns="0" rIns="0" bIns="0" rtlCol="0" anchor="t">
            <a:normAutofit lnSpcReduction="10000"/>
          </a:bodyPr>
          <a:lstStyle/>
          <a:p>
            <a:pPr marL="0" indent="0" algn="l">
              <a:lnSpc>
                <a:spcPct val="133000"/>
              </a:lnSpc>
              <a:buNone/>
            </a:pPr>
            <a:r>
              <a:rPr lang="en-US" sz="1200" dirty="0">
                <a:solidFill>
                  <a:srgbClr val="E6EDF3"/>
                </a:solidFill>
                <a:latin typeface="Consolas" pitchFamily="34" charset="0"/>
                <a:ea typeface="Consolas" pitchFamily="34" charset="-122"/>
                <a:cs typeface="Consolas" pitchFamily="34" charset="-120"/>
              </a:rPr>
              <a:t>bestCost ← ∞</a:t>
            </a:r>
            <a:endParaRPr lang="en-US" sz="1200" dirty="0"/>
          </a:p>
          <a:p>
            <a:pPr marL="0" indent="0" algn="l">
              <a:lnSpc>
                <a:spcPct val="133000"/>
              </a:lnSpc>
              <a:buNone/>
            </a:pPr>
            <a:r>
              <a:rPr lang="en-US" sz="1200" dirty="0">
                <a:solidFill>
                  <a:srgbClr val="E6EDF3"/>
                </a:solidFill>
                <a:latin typeface="Consolas" pitchFamily="34" charset="0"/>
                <a:ea typeface="Consolas" pitchFamily="34" charset="-122"/>
                <a:cs typeface="Consolas" pitchFamily="34" charset="-120"/>
              </a:rPr>
              <a:t>bestTour ← none</a:t>
            </a:r>
            <a:endParaRPr lang="en-US" sz="1200" dirty="0"/>
          </a:p>
          <a:p>
            <a:pPr marL="0" indent="0" algn="l">
              <a:lnSpc>
                <a:spcPct val="133000"/>
              </a:lnSpc>
              <a:buNone/>
            </a:pPr>
            <a:r>
              <a:rPr lang="en-US" sz="1200" dirty="0">
                <a:solidFill>
                  <a:srgbClr val="E6EDF3"/>
                </a:solidFill>
                <a:latin typeface="Consolas" pitchFamily="34" charset="0"/>
                <a:ea typeface="Consolas" pitchFamily="34" charset="-122"/>
                <a:cs typeface="Consolas" pitchFamily="34" charset="-120"/>
              </a:rPr>
              <a:t>for each permutation P of {B, …, n}:</a:t>
            </a:r>
            <a:endParaRPr lang="en-US" sz="1200" dirty="0"/>
          </a:p>
          <a:p>
            <a:pPr marL="0" indent="0" algn="l">
              <a:lnSpc>
                <a:spcPct val="133000"/>
              </a:lnSpc>
              <a:buNone/>
            </a:pPr>
            <a:r>
              <a:rPr lang="en-US" sz="1200" dirty="0">
                <a:solidFill>
                  <a:srgbClr val="E6EDF3"/>
                </a:solidFill>
                <a:latin typeface="Consolas" pitchFamily="34" charset="0"/>
                <a:ea typeface="Consolas" pitchFamily="34" charset="-122"/>
                <a:cs typeface="Consolas" pitchFamily="34" charset="-120"/>
              </a:rPr>
              <a:t>    tour ← [A] + P + [A]</a:t>
            </a:r>
            <a:endParaRPr lang="en-US" sz="1200" dirty="0"/>
          </a:p>
          <a:p>
            <a:pPr marL="0" indent="0" algn="l">
              <a:lnSpc>
                <a:spcPct val="133000"/>
              </a:lnSpc>
              <a:buNone/>
            </a:pPr>
            <a:r>
              <a:rPr lang="en-US" sz="1200" dirty="0">
                <a:solidFill>
                  <a:srgbClr val="E6EDF3"/>
                </a:solidFill>
                <a:latin typeface="Consolas" pitchFamily="34" charset="0"/>
                <a:ea typeface="Consolas" pitchFamily="34" charset="-122"/>
                <a:cs typeface="Consolas" pitchFamily="34" charset="-120"/>
              </a:rPr>
              <a:t>    cost ← 0</a:t>
            </a:r>
            <a:endParaRPr lang="en-US" sz="1200" dirty="0"/>
          </a:p>
          <a:p>
            <a:pPr marL="0" indent="0" algn="l">
              <a:lnSpc>
                <a:spcPct val="133000"/>
              </a:lnSpc>
              <a:buNone/>
            </a:pPr>
            <a:r>
              <a:rPr lang="en-US" sz="1200" dirty="0">
                <a:solidFill>
                  <a:srgbClr val="E6EDF3"/>
                </a:solidFill>
                <a:latin typeface="Consolas" pitchFamily="34" charset="0"/>
                <a:ea typeface="Consolas" pitchFamily="34" charset="-122"/>
                <a:cs typeface="Consolas" pitchFamily="34" charset="-120"/>
              </a:rPr>
              <a:t>    for i ← 0 to n−1:</a:t>
            </a:r>
            <a:endParaRPr lang="en-US" sz="1200" dirty="0"/>
          </a:p>
          <a:p>
            <a:pPr marL="0" indent="0" algn="l">
              <a:lnSpc>
                <a:spcPct val="133000"/>
              </a:lnSpc>
              <a:buNone/>
            </a:pPr>
            <a:r>
              <a:rPr lang="en-US" sz="1200" dirty="0">
                <a:solidFill>
                  <a:srgbClr val="E6EDF3"/>
                </a:solidFill>
                <a:latin typeface="Consolas" pitchFamily="34" charset="0"/>
                <a:ea typeface="Consolas" pitchFamily="34" charset="-122"/>
                <a:cs typeface="Consolas" pitchFamily="34" charset="-120"/>
              </a:rPr>
              <a:t>        cost ← cost + d[tour[i]][tour[i+1]]</a:t>
            </a:r>
            <a:endParaRPr lang="en-US" sz="1200" dirty="0"/>
          </a:p>
          <a:p>
            <a:pPr marL="0" indent="0" algn="l">
              <a:lnSpc>
                <a:spcPct val="133000"/>
              </a:lnSpc>
              <a:buNone/>
            </a:pPr>
            <a:r>
              <a:rPr lang="en-US" sz="1200" dirty="0">
                <a:solidFill>
                  <a:srgbClr val="E6EDF3"/>
                </a:solidFill>
                <a:latin typeface="Consolas" pitchFamily="34" charset="0"/>
                <a:ea typeface="Consolas" pitchFamily="34" charset="-122"/>
                <a:cs typeface="Consolas" pitchFamily="34" charset="-120"/>
              </a:rPr>
              <a:t>    if cost &lt; bestCost:</a:t>
            </a:r>
            <a:endParaRPr lang="en-US" sz="1200" dirty="0"/>
          </a:p>
          <a:p>
            <a:pPr marL="0" indent="0" algn="l">
              <a:lnSpc>
                <a:spcPct val="133000"/>
              </a:lnSpc>
              <a:buNone/>
            </a:pPr>
            <a:r>
              <a:rPr lang="en-US" sz="1200" dirty="0">
                <a:solidFill>
                  <a:srgbClr val="E6EDF3"/>
                </a:solidFill>
                <a:latin typeface="Consolas" pitchFamily="34" charset="0"/>
                <a:ea typeface="Consolas" pitchFamily="34" charset="-122"/>
                <a:cs typeface="Consolas" pitchFamily="34" charset="-120"/>
              </a:rPr>
              <a:t>        bestCost ← cost</a:t>
            </a:r>
            <a:endParaRPr lang="en-US" sz="1200" dirty="0"/>
          </a:p>
          <a:p>
            <a:pPr marL="0" indent="0" algn="l">
              <a:lnSpc>
                <a:spcPct val="133000"/>
              </a:lnSpc>
              <a:buNone/>
            </a:pPr>
            <a:r>
              <a:rPr lang="en-US" sz="1200" dirty="0">
                <a:solidFill>
                  <a:srgbClr val="E6EDF3"/>
                </a:solidFill>
                <a:latin typeface="Consolas" pitchFamily="34" charset="0"/>
                <a:ea typeface="Consolas" pitchFamily="34" charset="-122"/>
                <a:cs typeface="Consolas" pitchFamily="34" charset="-120"/>
              </a:rPr>
              <a:t>        bestTour ← tour</a:t>
            </a:r>
            <a:endParaRPr lang="en-US" sz="1200" dirty="0"/>
          </a:p>
          <a:p>
            <a:pPr marL="0" indent="0" algn="l">
              <a:lnSpc>
                <a:spcPct val="133000"/>
              </a:lnSpc>
              <a:buNone/>
            </a:pPr>
            <a:r>
              <a:rPr lang="en-US" sz="1200" dirty="0">
                <a:solidFill>
                  <a:srgbClr val="E6EDF3"/>
                </a:solidFill>
                <a:latin typeface="Consolas" pitchFamily="34" charset="0"/>
                <a:ea typeface="Consolas" pitchFamily="34" charset="-122"/>
                <a:cs typeface="Consolas" pitchFamily="34" charset="-120"/>
              </a:rPr>
              <a:t>return bestTour, bestCost</a:t>
            </a:r>
            <a:endParaRPr lang="en-US" sz="1200" dirty="0"/>
          </a:p>
        </p:txBody>
      </p:sp>
      <p:sp>
        <p:nvSpPr>
          <p:cNvPr id="36" name="Text 31"/>
          <p:cNvSpPr/>
          <p:nvPr/>
        </p:nvSpPr>
        <p:spPr>
          <a:xfrm>
            <a:off x="11853764" y="6476305"/>
            <a:ext cx="337931" cy="153789"/>
          </a:xfrm>
          <a:prstGeom prst="rect">
            <a:avLst/>
          </a:prstGeom>
          <a:noFill/>
          <a:ln/>
        </p:spPr>
        <p:txBody>
          <a:bodyPr wrap="none" lIns="0" tIns="0" rIns="0" bIns="0" rtlCol="0" anchor="ctr"/>
          <a:lstStyle/>
          <a:p>
            <a:pPr marL="0" indent="0" algn="l">
              <a:lnSpc>
                <a:spcPct val="118000"/>
              </a:lnSpc>
              <a:buNone/>
            </a:pPr>
            <a:r>
              <a:rPr lang="en-US" sz="850" kern="100" spc="68" dirty="0">
                <a:solidFill>
                  <a:srgbClr val="9D9D9D"/>
                </a:solidFill>
                <a:latin typeface="Fira Mono" pitchFamily="34" charset="0"/>
                <a:ea typeface="Fira Mono" pitchFamily="34" charset="-122"/>
                <a:cs typeface="Fira Mono"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43096"/>
            <a:ext cx="10972526" cy="475555"/>
          </a:xfrm>
          <a:prstGeom prst="rect">
            <a:avLst/>
          </a:prstGeom>
          <a:noFill/>
          <a:ln/>
        </p:spPr>
        <p:txBody>
          <a:bodyPr wrap="none" lIns="0" tIns="0" rIns="0" bIns="0" rtlCol="0" anchor="t"/>
          <a:lstStyle/>
          <a:p>
            <a:pPr marL="0" indent="0" algn="l">
              <a:lnSpc>
                <a:spcPct val="89000"/>
              </a:lnSpc>
              <a:buNone/>
            </a:pPr>
            <a:r>
              <a:rPr lang="en-US" sz="3500" kern="100" spc="-42" dirty="0">
                <a:solidFill>
                  <a:srgbClr val="ECECEC"/>
                </a:solidFill>
                <a:latin typeface="Exo SemiBold" pitchFamily="34" charset="0"/>
                <a:ea typeface="Exo SemiBold" pitchFamily="34" charset="-122"/>
                <a:cs typeface="Exo SemiBold" pitchFamily="34" charset="-120"/>
              </a:rPr>
              <a:t>Branch and bound: search smarter, stay exact</a:t>
            </a:r>
            <a:endParaRPr lang="en-US" sz="3500" dirty="0"/>
          </a:p>
        </p:txBody>
      </p:sp>
      <p:sp>
        <p:nvSpPr>
          <p:cNvPr id="3" name="Shape 1"/>
          <p:cNvSpPr/>
          <p:nvPr/>
        </p:nvSpPr>
        <p:spPr>
          <a:xfrm>
            <a:off x="609585" y="1328043"/>
            <a:ext cx="2743131" cy="31651"/>
          </a:xfrm>
          <a:prstGeom prst="roundRect">
            <a:avLst>
              <a:gd name="adj" fmla="val 49998"/>
            </a:avLst>
          </a:prstGeom>
          <a:solidFill>
            <a:srgbClr val="9BE1FF"/>
          </a:solidFill>
          <a:ln/>
        </p:spPr>
      </p:sp>
      <p:sp>
        <p:nvSpPr>
          <p:cNvPr id="4" name="Text 2"/>
          <p:cNvSpPr/>
          <p:nvPr/>
        </p:nvSpPr>
        <p:spPr>
          <a:xfrm>
            <a:off x="609585" y="1605538"/>
            <a:ext cx="3555911"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D5D5D5"/>
                </a:solidFill>
                <a:latin typeface="Michroma" pitchFamily="34" charset="0"/>
                <a:ea typeface="Michroma" pitchFamily="34" charset="-122"/>
                <a:cs typeface="Michroma" pitchFamily="34" charset="-120"/>
              </a:rPr>
              <a:t>BRANCH</a:t>
            </a:r>
            <a:endParaRPr lang="en-US" sz="1200" dirty="0"/>
          </a:p>
        </p:txBody>
      </p:sp>
      <p:sp>
        <p:nvSpPr>
          <p:cNvPr id="5" name="Text 3"/>
          <p:cNvSpPr/>
          <p:nvPr/>
        </p:nvSpPr>
        <p:spPr>
          <a:xfrm>
            <a:off x="609585" y="1924546"/>
            <a:ext cx="3555911"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Extend a partial route with one unvisited city.</a:t>
            </a:r>
            <a:endParaRPr lang="en-US" sz="1500" dirty="0"/>
          </a:p>
        </p:txBody>
      </p:sp>
      <p:sp>
        <p:nvSpPr>
          <p:cNvPr id="6" name="Text 4"/>
          <p:cNvSpPr/>
          <p:nvPr/>
        </p:nvSpPr>
        <p:spPr>
          <a:xfrm>
            <a:off x="609585" y="2665194"/>
            <a:ext cx="3555911"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D5D5D5"/>
                </a:solidFill>
                <a:latin typeface="Michroma" pitchFamily="34" charset="0"/>
                <a:ea typeface="Michroma" pitchFamily="34" charset="-122"/>
                <a:cs typeface="Michroma" pitchFamily="34" charset="-120"/>
              </a:rPr>
              <a:t>BOUND</a:t>
            </a:r>
            <a:endParaRPr lang="en-US" sz="1200" dirty="0"/>
          </a:p>
        </p:txBody>
      </p:sp>
      <p:sp>
        <p:nvSpPr>
          <p:cNvPr id="7" name="Text 5"/>
          <p:cNvSpPr/>
          <p:nvPr/>
        </p:nvSpPr>
        <p:spPr>
          <a:xfrm>
            <a:off x="609585" y="2984202"/>
            <a:ext cx="3555911"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Estimate the cheapest possible completion.</a:t>
            </a:r>
            <a:endParaRPr lang="en-US" sz="1500" dirty="0"/>
          </a:p>
        </p:txBody>
      </p:sp>
      <p:sp>
        <p:nvSpPr>
          <p:cNvPr id="8" name="Text 6"/>
          <p:cNvSpPr/>
          <p:nvPr/>
        </p:nvSpPr>
        <p:spPr>
          <a:xfrm>
            <a:off x="609585" y="3724850"/>
            <a:ext cx="3555911"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D5D5D5"/>
                </a:solidFill>
                <a:latin typeface="Michroma" pitchFamily="34" charset="0"/>
                <a:ea typeface="Michroma" pitchFamily="34" charset="-122"/>
                <a:cs typeface="Michroma" pitchFamily="34" charset="-120"/>
              </a:rPr>
              <a:t>PRUNE</a:t>
            </a:r>
            <a:endParaRPr lang="en-US" sz="1200" dirty="0"/>
          </a:p>
        </p:txBody>
      </p:sp>
      <p:sp>
        <p:nvSpPr>
          <p:cNvPr id="9" name="Text 7"/>
          <p:cNvSpPr/>
          <p:nvPr/>
        </p:nvSpPr>
        <p:spPr>
          <a:xfrm>
            <a:off x="609585" y="4043859"/>
            <a:ext cx="3555911"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Discard a node when its lower bound ≥ incumbent best cost.</a:t>
            </a:r>
            <a:endParaRPr lang="en-US" sz="1500" dirty="0"/>
          </a:p>
        </p:txBody>
      </p:sp>
      <p:sp>
        <p:nvSpPr>
          <p:cNvPr id="10" name="Text 8"/>
          <p:cNvSpPr/>
          <p:nvPr/>
        </p:nvSpPr>
        <p:spPr>
          <a:xfrm>
            <a:off x="609585" y="4700623"/>
            <a:ext cx="3555911" cy="184348"/>
          </a:xfrm>
          <a:prstGeom prst="rect">
            <a:avLst/>
          </a:prstGeom>
          <a:noFill/>
          <a:ln/>
        </p:spPr>
        <p:txBody>
          <a:bodyPr wrap="none" lIns="0" tIns="0" rIns="0" bIns="0" rtlCol="0" anchor="t"/>
          <a:lstStyle/>
          <a:p>
            <a:pPr marL="0" indent="0" algn="l">
              <a:lnSpc>
                <a:spcPct val="110000"/>
              </a:lnSpc>
              <a:buNone/>
            </a:pPr>
            <a:r>
              <a:rPr lang="en-US" sz="1100" kern="100" spc="11" dirty="0">
                <a:solidFill>
                  <a:srgbClr val="9D9D9D"/>
                </a:solidFill>
                <a:latin typeface="Exo" pitchFamily="34" charset="0"/>
                <a:ea typeface="Exo" pitchFamily="34" charset="-122"/>
                <a:cs typeface="Exo" pitchFamily="34" charset="-120"/>
              </a:rPr>
              <a:t>A valid lower bound makes every prune safe.</a:t>
            </a:r>
            <a:endParaRPr lang="en-US" sz="1100" dirty="0"/>
          </a:p>
        </p:txBody>
      </p:sp>
      <p:pic>
        <p:nvPicPr>
          <p:cNvPr id="11" name="Image 0" descr="preencoded.png"/>
          <p:cNvPicPr>
            <a:picLocks noChangeAspect="1"/>
          </p:cNvPicPr>
          <p:nvPr/>
        </p:nvPicPr>
        <p:blipFill>
          <a:blip r:embed="rId3"/>
          <a:stretch>
            <a:fillRect/>
          </a:stretch>
        </p:blipFill>
        <p:spPr>
          <a:xfrm>
            <a:off x="4470288" y="1583630"/>
            <a:ext cx="7111822" cy="4000500"/>
          </a:xfrm>
          <a:prstGeom prst="rect">
            <a:avLst/>
          </a:prstGeom>
        </p:spPr>
      </p:pic>
      <p:sp>
        <p:nvSpPr>
          <p:cNvPr id="12" name="Text 9"/>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7924602" cy="6858000"/>
          </a:xfrm>
          <a:prstGeom prst="rect">
            <a:avLst/>
          </a:prstGeom>
          <a:solidFill>
            <a:srgbClr val="0E1F40"/>
          </a:solidFill>
          <a:ln/>
        </p:spPr>
      </p:sp>
      <p:sp>
        <p:nvSpPr>
          <p:cNvPr id="3" name="Text 1"/>
          <p:cNvSpPr/>
          <p:nvPr/>
        </p:nvSpPr>
        <p:spPr>
          <a:xfrm>
            <a:off x="457189" y="338296"/>
            <a:ext cx="7086423" cy="475555"/>
          </a:xfrm>
          <a:prstGeom prst="rect">
            <a:avLst/>
          </a:prstGeom>
          <a:noFill/>
          <a:ln/>
        </p:spPr>
        <p:txBody>
          <a:bodyPr wrap="none" lIns="0" tIns="0" rIns="0" bIns="0" rtlCol="0" anchor="t"/>
          <a:lstStyle/>
          <a:p>
            <a:pPr marL="0" indent="0" algn="l">
              <a:lnSpc>
                <a:spcPct val="89000"/>
              </a:lnSpc>
              <a:buNone/>
            </a:pPr>
            <a:r>
              <a:rPr lang="en-US" sz="3500" kern="100" spc="-42" dirty="0">
                <a:solidFill>
                  <a:srgbClr val="D5D5D5"/>
                </a:solidFill>
                <a:latin typeface="Exo SemiBold" pitchFamily="34" charset="0"/>
                <a:ea typeface="Exo SemiBold" pitchFamily="34" charset="-122"/>
                <a:cs typeface="Exo SemiBold" pitchFamily="34" charset="-120"/>
              </a:rPr>
              <a:t>Branch and bound algorithm</a:t>
            </a:r>
            <a:endParaRPr lang="en-US" sz="3500" dirty="0"/>
          </a:p>
        </p:txBody>
      </p:sp>
      <p:sp>
        <p:nvSpPr>
          <p:cNvPr id="4" name="Shape 2"/>
          <p:cNvSpPr/>
          <p:nvPr/>
        </p:nvSpPr>
        <p:spPr>
          <a:xfrm>
            <a:off x="457189" y="1023243"/>
            <a:ext cx="1771606" cy="31651"/>
          </a:xfrm>
          <a:prstGeom prst="roundRect">
            <a:avLst>
              <a:gd name="adj" fmla="val 49998"/>
            </a:avLst>
          </a:prstGeom>
          <a:solidFill>
            <a:srgbClr val="9BE1FF"/>
          </a:solidFill>
          <a:ln/>
        </p:spPr>
      </p:sp>
      <p:sp>
        <p:nvSpPr>
          <p:cNvPr id="5" name="Shape 3"/>
          <p:cNvSpPr/>
          <p:nvPr/>
        </p:nvSpPr>
        <p:spPr>
          <a:xfrm>
            <a:off x="228594" y="1264286"/>
            <a:ext cx="7086423" cy="4648200"/>
          </a:xfrm>
          <a:prstGeom prst="roundRect">
            <a:avLst>
              <a:gd name="adj" fmla="val 246"/>
            </a:avLst>
          </a:prstGeom>
          <a:solidFill>
            <a:srgbClr val="0E1F40"/>
          </a:solidFill>
          <a:ln/>
        </p:spPr>
        <p:txBody>
          <a:bodyPr/>
          <a:lstStyle/>
          <a:p>
            <a:endParaRPr lang="en-IN" dirty="0"/>
          </a:p>
        </p:txBody>
      </p:sp>
      <p:sp>
        <p:nvSpPr>
          <p:cNvPr id="6" name="Text 4"/>
          <p:cNvSpPr/>
          <p:nvPr/>
        </p:nvSpPr>
        <p:spPr>
          <a:xfrm>
            <a:off x="685783" y="1505843"/>
            <a:ext cx="6629234" cy="4267200"/>
          </a:xfrm>
          <a:prstGeom prst="rect">
            <a:avLst/>
          </a:prstGeom>
          <a:noFill/>
          <a:ln/>
        </p:spPr>
        <p:txBody>
          <a:bodyPr wrap="square" lIns="0" tIns="0" rIns="0" bIns="0" rtlCol="0" anchor="t">
            <a:noAutofit/>
          </a:bodyPr>
          <a:lstStyle/>
          <a:p>
            <a:pPr>
              <a:lnSpc>
                <a:spcPct val="133000"/>
              </a:lnSpc>
            </a:pPr>
            <a:endParaRPr lang="en-US" sz="900" dirty="0">
              <a:solidFill>
                <a:srgbClr val="E6EDF3"/>
              </a:solidFill>
              <a:latin typeface="Consolas" pitchFamily="34" charset="0"/>
              <a:ea typeface="Consolas" pitchFamily="34" charset="-122"/>
              <a:cs typeface="Consolas" pitchFamily="34" charset="-120"/>
            </a:endParaRPr>
          </a:p>
          <a:p>
            <a:pPr>
              <a:lnSpc>
                <a:spcPct val="133000"/>
              </a:lnSpc>
            </a:pPr>
            <a:r>
              <a:rPr lang="en-US" sz="900" dirty="0" err="1">
                <a:solidFill>
                  <a:srgbClr val="E6EDF3"/>
                </a:solidFill>
                <a:latin typeface="Consolas" pitchFamily="34" charset="0"/>
                <a:ea typeface="Consolas" pitchFamily="34" charset="-122"/>
                <a:cs typeface="Consolas" pitchFamily="34" charset="-120"/>
              </a:rPr>
              <a:t>bestCost</a:t>
            </a:r>
            <a:r>
              <a:rPr lang="en-US" sz="900" dirty="0">
                <a:solidFill>
                  <a:srgbClr val="E6EDF3"/>
                </a:solidFill>
                <a:latin typeface="Consolas" pitchFamily="34" charset="0"/>
                <a:ea typeface="Consolas" pitchFamily="34" charset="-122"/>
                <a:cs typeface="Consolas" pitchFamily="34" charset="-120"/>
              </a:rPr>
              <a:t> ← ∞</a:t>
            </a:r>
          </a:p>
          <a:p>
            <a:pPr>
              <a:lnSpc>
                <a:spcPct val="133000"/>
              </a:lnSpc>
            </a:pPr>
            <a:r>
              <a:rPr lang="en-US" sz="900" dirty="0" err="1">
                <a:solidFill>
                  <a:srgbClr val="E6EDF3"/>
                </a:solidFill>
                <a:latin typeface="Consolas" pitchFamily="34" charset="0"/>
                <a:ea typeface="Consolas" pitchFamily="34" charset="-122"/>
                <a:cs typeface="Consolas" pitchFamily="34" charset="-120"/>
              </a:rPr>
              <a:t>bestTour</a:t>
            </a:r>
            <a:r>
              <a:rPr lang="en-US" sz="900" dirty="0">
                <a:solidFill>
                  <a:srgbClr val="E6EDF3"/>
                </a:solidFill>
                <a:latin typeface="Consolas" pitchFamily="34" charset="0"/>
                <a:ea typeface="Consolas" pitchFamily="34" charset="-122"/>
                <a:cs typeface="Consolas" pitchFamily="34" charset="-120"/>
              </a:rPr>
              <a:t> ← none</a:t>
            </a:r>
          </a:p>
          <a:p>
            <a:pPr>
              <a:lnSpc>
                <a:spcPct val="133000"/>
              </a:lnSpc>
            </a:pPr>
            <a:r>
              <a:rPr lang="en-US" sz="900" dirty="0">
                <a:solidFill>
                  <a:srgbClr val="E6EDF3"/>
                </a:solidFill>
                <a:latin typeface="Consolas" pitchFamily="34" charset="0"/>
                <a:ea typeface="Consolas" pitchFamily="34" charset="-122"/>
                <a:cs typeface="Consolas" pitchFamily="34" charset="-120"/>
              </a:rPr>
              <a:t>PQ ← priority queue ordered by </a:t>
            </a:r>
            <a:r>
              <a:rPr lang="en-US" sz="900" dirty="0" err="1">
                <a:solidFill>
                  <a:srgbClr val="E6EDF3"/>
                </a:solidFill>
                <a:latin typeface="Consolas" pitchFamily="34" charset="0"/>
                <a:ea typeface="Consolas" pitchFamily="34" charset="-122"/>
                <a:cs typeface="Consolas" pitchFamily="34" charset="-120"/>
              </a:rPr>
              <a:t>lowerBound</a:t>
            </a:r>
            <a:endParaRPr lang="en-US" sz="900" dirty="0">
              <a:solidFill>
                <a:srgbClr val="E6EDF3"/>
              </a:solidFill>
              <a:latin typeface="Consolas" pitchFamily="34" charset="0"/>
              <a:ea typeface="Consolas" pitchFamily="34" charset="-122"/>
              <a:cs typeface="Consolas" pitchFamily="34" charset="-120"/>
            </a:endParaRPr>
          </a:p>
          <a:p>
            <a:pPr>
              <a:lnSpc>
                <a:spcPct val="133000"/>
              </a:lnSpc>
            </a:pPr>
            <a:endParaRPr lang="en-US" sz="900" dirty="0">
              <a:solidFill>
                <a:srgbClr val="E6EDF3"/>
              </a:solidFill>
              <a:latin typeface="Consolas" pitchFamily="34" charset="0"/>
              <a:ea typeface="Consolas" pitchFamily="34" charset="-122"/>
              <a:cs typeface="Consolas" pitchFamily="34" charset="-120"/>
            </a:endParaRPr>
          </a:p>
          <a:p>
            <a:pPr>
              <a:lnSpc>
                <a:spcPct val="133000"/>
              </a:lnSpc>
            </a:pPr>
            <a:r>
              <a:rPr lang="en-US" sz="900" dirty="0">
                <a:solidFill>
                  <a:srgbClr val="E6EDF3"/>
                </a:solidFill>
                <a:latin typeface="Consolas" pitchFamily="34" charset="0"/>
                <a:ea typeface="Consolas" pitchFamily="34" charset="-122"/>
                <a:cs typeface="Consolas" pitchFamily="34" charset="-120"/>
              </a:rPr>
              <a:t>Push initial node [A] into PQ</a:t>
            </a:r>
          </a:p>
          <a:p>
            <a:pPr>
              <a:lnSpc>
                <a:spcPct val="133000"/>
              </a:lnSpc>
            </a:pPr>
            <a:endParaRPr lang="en-US" sz="900" dirty="0">
              <a:solidFill>
                <a:srgbClr val="E6EDF3"/>
              </a:solidFill>
              <a:latin typeface="Consolas" pitchFamily="34" charset="0"/>
              <a:ea typeface="Consolas" pitchFamily="34" charset="-122"/>
              <a:cs typeface="Consolas" pitchFamily="34" charset="-120"/>
            </a:endParaRPr>
          </a:p>
          <a:p>
            <a:pPr>
              <a:lnSpc>
                <a:spcPct val="133000"/>
              </a:lnSpc>
            </a:pPr>
            <a:r>
              <a:rPr lang="en-US" sz="900" dirty="0">
                <a:solidFill>
                  <a:srgbClr val="E6EDF3"/>
                </a:solidFill>
                <a:latin typeface="Consolas" pitchFamily="34" charset="0"/>
                <a:ea typeface="Consolas" pitchFamily="34" charset="-122"/>
                <a:cs typeface="Consolas" pitchFamily="34" charset="-120"/>
              </a:rPr>
              <a:t>while PQ is not empty:</a:t>
            </a:r>
          </a:p>
          <a:p>
            <a:pPr>
              <a:lnSpc>
                <a:spcPct val="133000"/>
              </a:lnSpc>
            </a:pPr>
            <a:r>
              <a:rPr lang="en-US" sz="900" dirty="0">
                <a:solidFill>
                  <a:srgbClr val="E6EDF3"/>
                </a:solidFill>
                <a:latin typeface="Consolas" pitchFamily="34" charset="0"/>
                <a:ea typeface="Consolas" pitchFamily="34" charset="-122"/>
                <a:cs typeface="Consolas" pitchFamily="34" charset="-120"/>
              </a:rPr>
              <a:t>    node ← pop node with minimum </a:t>
            </a:r>
            <a:r>
              <a:rPr lang="en-US" sz="900" dirty="0" err="1">
                <a:solidFill>
                  <a:srgbClr val="E6EDF3"/>
                </a:solidFill>
                <a:latin typeface="Consolas" pitchFamily="34" charset="0"/>
                <a:ea typeface="Consolas" pitchFamily="34" charset="-122"/>
                <a:cs typeface="Consolas" pitchFamily="34" charset="-120"/>
              </a:rPr>
              <a:t>lowerBound</a:t>
            </a:r>
            <a:endParaRPr lang="en-US" sz="900" dirty="0">
              <a:solidFill>
                <a:srgbClr val="E6EDF3"/>
              </a:solidFill>
              <a:latin typeface="Consolas" pitchFamily="34" charset="0"/>
              <a:ea typeface="Consolas" pitchFamily="34" charset="-122"/>
              <a:cs typeface="Consolas" pitchFamily="34" charset="-120"/>
            </a:endParaRPr>
          </a:p>
          <a:p>
            <a:pPr>
              <a:lnSpc>
                <a:spcPct val="133000"/>
              </a:lnSpc>
            </a:pPr>
            <a:endParaRPr lang="en-US" sz="900" dirty="0">
              <a:solidFill>
                <a:srgbClr val="E6EDF3"/>
              </a:solidFill>
              <a:latin typeface="Consolas" pitchFamily="34" charset="0"/>
              <a:ea typeface="Consolas" pitchFamily="34" charset="-122"/>
              <a:cs typeface="Consolas" pitchFamily="34" charset="-120"/>
            </a:endParaRPr>
          </a:p>
          <a:p>
            <a:pPr>
              <a:lnSpc>
                <a:spcPct val="133000"/>
              </a:lnSpc>
            </a:pPr>
            <a:r>
              <a:rPr lang="en-US" sz="900" dirty="0">
                <a:solidFill>
                  <a:srgbClr val="E6EDF3"/>
                </a:solidFill>
                <a:latin typeface="Consolas" pitchFamily="34" charset="0"/>
                <a:ea typeface="Consolas" pitchFamily="34" charset="-122"/>
                <a:cs typeface="Consolas" pitchFamily="34" charset="-120"/>
              </a:rPr>
              <a:t>    if </a:t>
            </a:r>
            <a:r>
              <a:rPr lang="en-US" sz="900" dirty="0" err="1">
                <a:solidFill>
                  <a:srgbClr val="E6EDF3"/>
                </a:solidFill>
                <a:latin typeface="Consolas" pitchFamily="34" charset="0"/>
                <a:ea typeface="Consolas" pitchFamily="34" charset="-122"/>
                <a:cs typeface="Consolas" pitchFamily="34" charset="-120"/>
              </a:rPr>
              <a:t>node.unvisited</a:t>
            </a:r>
            <a:r>
              <a:rPr lang="en-US" sz="900" dirty="0">
                <a:solidFill>
                  <a:srgbClr val="E6EDF3"/>
                </a:solidFill>
                <a:latin typeface="Consolas" pitchFamily="34" charset="0"/>
                <a:ea typeface="Consolas" pitchFamily="34" charset="-122"/>
                <a:cs typeface="Consolas" pitchFamily="34" charset="-120"/>
              </a:rPr>
              <a:t> is empty:</a:t>
            </a:r>
          </a:p>
          <a:p>
            <a:pPr>
              <a:lnSpc>
                <a:spcPct val="133000"/>
              </a:lnSpc>
            </a:pPr>
            <a:r>
              <a:rPr lang="en-US" sz="900" dirty="0">
                <a:solidFill>
                  <a:srgbClr val="E6EDF3"/>
                </a:solidFill>
                <a:latin typeface="Consolas" pitchFamily="34" charset="0"/>
                <a:ea typeface="Consolas" pitchFamily="34" charset="-122"/>
                <a:cs typeface="Consolas" pitchFamily="34" charset="-120"/>
              </a:rPr>
              <a:t>        total ← </a:t>
            </a:r>
            <a:r>
              <a:rPr lang="en-US" sz="900" dirty="0" err="1">
                <a:solidFill>
                  <a:srgbClr val="E6EDF3"/>
                </a:solidFill>
                <a:latin typeface="Consolas" pitchFamily="34" charset="0"/>
                <a:ea typeface="Consolas" pitchFamily="34" charset="-122"/>
                <a:cs typeface="Consolas" pitchFamily="34" charset="-120"/>
              </a:rPr>
              <a:t>node.cost</a:t>
            </a:r>
            <a:r>
              <a:rPr lang="en-US" sz="900" dirty="0">
                <a:solidFill>
                  <a:srgbClr val="E6EDF3"/>
                </a:solidFill>
                <a:latin typeface="Consolas" pitchFamily="34" charset="0"/>
                <a:ea typeface="Consolas" pitchFamily="34" charset="-122"/>
                <a:cs typeface="Consolas" pitchFamily="34" charset="-120"/>
              </a:rPr>
              <a:t> + d[</a:t>
            </a:r>
            <a:r>
              <a:rPr lang="en-US" sz="900" dirty="0" err="1">
                <a:solidFill>
                  <a:srgbClr val="E6EDF3"/>
                </a:solidFill>
                <a:latin typeface="Consolas" pitchFamily="34" charset="0"/>
                <a:ea typeface="Consolas" pitchFamily="34" charset="-122"/>
                <a:cs typeface="Consolas" pitchFamily="34" charset="-120"/>
              </a:rPr>
              <a:t>node.last</a:t>
            </a:r>
            <a:r>
              <a:rPr lang="en-US" sz="900" dirty="0">
                <a:solidFill>
                  <a:srgbClr val="E6EDF3"/>
                </a:solidFill>
                <a:latin typeface="Consolas" pitchFamily="34" charset="0"/>
                <a:ea typeface="Consolas" pitchFamily="34" charset="-122"/>
                <a:cs typeface="Consolas" pitchFamily="34" charset="-120"/>
              </a:rPr>
              <a:t>][A]</a:t>
            </a:r>
          </a:p>
          <a:p>
            <a:pPr>
              <a:lnSpc>
                <a:spcPct val="133000"/>
              </a:lnSpc>
            </a:pPr>
            <a:endParaRPr lang="en-US" sz="900" dirty="0">
              <a:solidFill>
                <a:srgbClr val="E6EDF3"/>
              </a:solidFill>
              <a:latin typeface="Consolas" pitchFamily="34" charset="0"/>
              <a:ea typeface="Consolas" pitchFamily="34" charset="-122"/>
              <a:cs typeface="Consolas" pitchFamily="34" charset="-120"/>
            </a:endParaRPr>
          </a:p>
          <a:p>
            <a:pPr>
              <a:lnSpc>
                <a:spcPct val="133000"/>
              </a:lnSpc>
            </a:pPr>
            <a:r>
              <a:rPr lang="en-US" sz="900" dirty="0">
                <a:solidFill>
                  <a:srgbClr val="E6EDF3"/>
                </a:solidFill>
                <a:latin typeface="Consolas" pitchFamily="34" charset="0"/>
                <a:ea typeface="Consolas" pitchFamily="34" charset="-122"/>
                <a:cs typeface="Consolas" pitchFamily="34" charset="-120"/>
              </a:rPr>
              <a:t>        if total &lt; </a:t>
            </a:r>
            <a:r>
              <a:rPr lang="en-US" sz="900" dirty="0" err="1">
                <a:solidFill>
                  <a:srgbClr val="E6EDF3"/>
                </a:solidFill>
                <a:latin typeface="Consolas" pitchFamily="34" charset="0"/>
                <a:ea typeface="Consolas" pitchFamily="34" charset="-122"/>
                <a:cs typeface="Consolas" pitchFamily="34" charset="-120"/>
              </a:rPr>
              <a:t>bestCost</a:t>
            </a:r>
            <a:r>
              <a:rPr lang="en-US" sz="900" dirty="0">
                <a:solidFill>
                  <a:srgbClr val="E6EDF3"/>
                </a:solidFill>
                <a:latin typeface="Consolas" pitchFamily="34" charset="0"/>
                <a:ea typeface="Consolas" pitchFamily="34" charset="-122"/>
                <a:cs typeface="Consolas" pitchFamily="34" charset="-120"/>
              </a:rPr>
              <a:t>:</a:t>
            </a:r>
          </a:p>
          <a:p>
            <a:pPr>
              <a:lnSpc>
                <a:spcPct val="133000"/>
              </a:lnSpc>
            </a:pPr>
            <a:r>
              <a:rPr lang="en-US" sz="900" dirty="0">
                <a:solidFill>
                  <a:srgbClr val="E6EDF3"/>
                </a:solidFill>
                <a:latin typeface="Consolas" pitchFamily="34" charset="0"/>
                <a:ea typeface="Consolas" pitchFamily="34" charset="-122"/>
                <a:cs typeface="Consolas" pitchFamily="34" charset="-120"/>
              </a:rPr>
              <a:t>            </a:t>
            </a:r>
            <a:r>
              <a:rPr lang="en-US" sz="900" dirty="0" err="1">
                <a:solidFill>
                  <a:srgbClr val="E6EDF3"/>
                </a:solidFill>
                <a:latin typeface="Consolas" pitchFamily="34" charset="0"/>
                <a:ea typeface="Consolas" pitchFamily="34" charset="-122"/>
                <a:cs typeface="Consolas" pitchFamily="34" charset="-120"/>
              </a:rPr>
              <a:t>bestCost</a:t>
            </a:r>
            <a:r>
              <a:rPr lang="en-US" sz="900" dirty="0">
                <a:solidFill>
                  <a:srgbClr val="E6EDF3"/>
                </a:solidFill>
                <a:latin typeface="Consolas" pitchFamily="34" charset="0"/>
                <a:ea typeface="Consolas" pitchFamily="34" charset="-122"/>
                <a:cs typeface="Consolas" pitchFamily="34" charset="-120"/>
              </a:rPr>
              <a:t> ← total</a:t>
            </a:r>
          </a:p>
          <a:p>
            <a:pPr>
              <a:lnSpc>
                <a:spcPct val="133000"/>
              </a:lnSpc>
            </a:pPr>
            <a:r>
              <a:rPr lang="en-US" sz="900" dirty="0">
                <a:solidFill>
                  <a:srgbClr val="E6EDF3"/>
                </a:solidFill>
                <a:latin typeface="Consolas" pitchFamily="34" charset="0"/>
                <a:ea typeface="Consolas" pitchFamily="34" charset="-122"/>
                <a:cs typeface="Consolas" pitchFamily="34" charset="-120"/>
              </a:rPr>
              <a:t>            </a:t>
            </a:r>
            <a:r>
              <a:rPr lang="en-US" sz="900" dirty="0" err="1">
                <a:solidFill>
                  <a:srgbClr val="E6EDF3"/>
                </a:solidFill>
                <a:latin typeface="Consolas" pitchFamily="34" charset="0"/>
                <a:ea typeface="Consolas" pitchFamily="34" charset="-122"/>
                <a:cs typeface="Consolas" pitchFamily="34" charset="-120"/>
              </a:rPr>
              <a:t>bestTour</a:t>
            </a:r>
            <a:r>
              <a:rPr lang="en-US" sz="900" dirty="0">
                <a:solidFill>
                  <a:srgbClr val="E6EDF3"/>
                </a:solidFill>
                <a:latin typeface="Consolas" pitchFamily="34" charset="0"/>
                <a:ea typeface="Consolas" pitchFamily="34" charset="-122"/>
                <a:cs typeface="Consolas" pitchFamily="34" charset="-120"/>
              </a:rPr>
              <a:t> ← </a:t>
            </a:r>
            <a:r>
              <a:rPr lang="en-US" sz="900" dirty="0" err="1">
                <a:solidFill>
                  <a:srgbClr val="E6EDF3"/>
                </a:solidFill>
                <a:latin typeface="Consolas" pitchFamily="34" charset="0"/>
                <a:ea typeface="Consolas" pitchFamily="34" charset="-122"/>
                <a:cs typeface="Consolas" pitchFamily="34" charset="-120"/>
              </a:rPr>
              <a:t>node.path</a:t>
            </a:r>
            <a:r>
              <a:rPr lang="en-US" sz="900" dirty="0">
                <a:solidFill>
                  <a:srgbClr val="E6EDF3"/>
                </a:solidFill>
                <a:latin typeface="Consolas" pitchFamily="34" charset="0"/>
                <a:ea typeface="Consolas" pitchFamily="34" charset="-122"/>
                <a:cs typeface="Consolas" pitchFamily="34" charset="-120"/>
              </a:rPr>
              <a:t> + [A]</a:t>
            </a:r>
          </a:p>
          <a:p>
            <a:pPr>
              <a:lnSpc>
                <a:spcPct val="133000"/>
              </a:lnSpc>
            </a:pPr>
            <a:endParaRPr lang="en-US" sz="900" dirty="0">
              <a:solidFill>
                <a:srgbClr val="E6EDF3"/>
              </a:solidFill>
              <a:latin typeface="Consolas" pitchFamily="34" charset="0"/>
              <a:ea typeface="Consolas" pitchFamily="34" charset="-122"/>
              <a:cs typeface="Consolas" pitchFamily="34" charset="-120"/>
            </a:endParaRPr>
          </a:p>
          <a:p>
            <a:pPr>
              <a:lnSpc>
                <a:spcPct val="133000"/>
              </a:lnSpc>
            </a:pPr>
            <a:r>
              <a:rPr lang="en-US" sz="900" dirty="0">
                <a:solidFill>
                  <a:srgbClr val="E6EDF3"/>
                </a:solidFill>
                <a:latin typeface="Consolas" pitchFamily="34" charset="0"/>
                <a:ea typeface="Consolas" pitchFamily="34" charset="-122"/>
                <a:cs typeface="Consolas" pitchFamily="34" charset="-120"/>
              </a:rPr>
              <a:t>    else:</a:t>
            </a:r>
          </a:p>
          <a:p>
            <a:pPr>
              <a:lnSpc>
                <a:spcPct val="133000"/>
              </a:lnSpc>
            </a:pPr>
            <a:r>
              <a:rPr lang="en-US" sz="900" dirty="0">
                <a:solidFill>
                  <a:srgbClr val="E6EDF3"/>
                </a:solidFill>
                <a:latin typeface="Consolas" pitchFamily="34" charset="0"/>
                <a:ea typeface="Consolas" pitchFamily="34" charset="-122"/>
                <a:cs typeface="Consolas" pitchFamily="34" charset="-120"/>
              </a:rPr>
              <a:t>        if </a:t>
            </a:r>
            <a:r>
              <a:rPr lang="en-US" sz="900" dirty="0" err="1">
                <a:solidFill>
                  <a:srgbClr val="E6EDF3"/>
                </a:solidFill>
                <a:latin typeface="Consolas" pitchFamily="34" charset="0"/>
                <a:ea typeface="Consolas" pitchFamily="34" charset="-122"/>
                <a:cs typeface="Consolas" pitchFamily="34" charset="-120"/>
              </a:rPr>
              <a:t>node.lowerBound</a:t>
            </a:r>
            <a:r>
              <a:rPr lang="en-US" sz="900" dirty="0">
                <a:solidFill>
                  <a:srgbClr val="E6EDF3"/>
                </a:solidFill>
                <a:latin typeface="Consolas" pitchFamily="34" charset="0"/>
                <a:ea typeface="Consolas" pitchFamily="34" charset="-122"/>
                <a:cs typeface="Consolas" pitchFamily="34" charset="-120"/>
              </a:rPr>
              <a:t> ≥ </a:t>
            </a:r>
            <a:r>
              <a:rPr lang="en-US" sz="900" dirty="0" err="1">
                <a:solidFill>
                  <a:srgbClr val="E6EDF3"/>
                </a:solidFill>
                <a:latin typeface="Consolas" pitchFamily="34" charset="0"/>
                <a:ea typeface="Consolas" pitchFamily="34" charset="-122"/>
                <a:cs typeface="Consolas" pitchFamily="34" charset="-120"/>
              </a:rPr>
              <a:t>bestCost</a:t>
            </a:r>
            <a:r>
              <a:rPr lang="en-US" sz="900" dirty="0">
                <a:solidFill>
                  <a:srgbClr val="E6EDF3"/>
                </a:solidFill>
                <a:latin typeface="Consolas" pitchFamily="34" charset="0"/>
                <a:ea typeface="Consolas" pitchFamily="34" charset="-122"/>
                <a:cs typeface="Consolas" pitchFamily="34" charset="-120"/>
              </a:rPr>
              <a:t>:</a:t>
            </a:r>
          </a:p>
          <a:p>
            <a:pPr>
              <a:lnSpc>
                <a:spcPct val="133000"/>
              </a:lnSpc>
            </a:pPr>
            <a:r>
              <a:rPr lang="en-US" sz="900" dirty="0">
                <a:solidFill>
                  <a:srgbClr val="E6EDF3"/>
                </a:solidFill>
                <a:latin typeface="Consolas" pitchFamily="34" charset="0"/>
                <a:ea typeface="Consolas" pitchFamily="34" charset="-122"/>
                <a:cs typeface="Consolas" pitchFamily="34" charset="-120"/>
              </a:rPr>
              <a:t>            continue</a:t>
            </a:r>
          </a:p>
          <a:p>
            <a:pPr>
              <a:lnSpc>
                <a:spcPct val="133000"/>
              </a:lnSpc>
            </a:pPr>
            <a:endParaRPr lang="en-US" sz="900" dirty="0">
              <a:solidFill>
                <a:srgbClr val="E6EDF3"/>
              </a:solidFill>
              <a:latin typeface="Consolas" pitchFamily="34" charset="0"/>
              <a:ea typeface="Consolas" pitchFamily="34" charset="-122"/>
              <a:cs typeface="Consolas" pitchFamily="34" charset="-120"/>
            </a:endParaRPr>
          </a:p>
          <a:p>
            <a:pPr>
              <a:lnSpc>
                <a:spcPct val="133000"/>
              </a:lnSpc>
            </a:pPr>
            <a:r>
              <a:rPr lang="en-US" sz="900" dirty="0">
                <a:solidFill>
                  <a:srgbClr val="E6EDF3"/>
                </a:solidFill>
                <a:latin typeface="Consolas" pitchFamily="34" charset="0"/>
                <a:ea typeface="Consolas" pitchFamily="34" charset="-122"/>
                <a:cs typeface="Consolas" pitchFamily="34" charset="-120"/>
              </a:rPr>
              <a:t>        for each city v in </a:t>
            </a:r>
            <a:r>
              <a:rPr lang="en-US" sz="900" dirty="0" err="1">
                <a:solidFill>
                  <a:srgbClr val="E6EDF3"/>
                </a:solidFill>
                <a:latin typeface="Consolas" pitchFamily="34" charset="0"/>
                <a:ea typeface="Consolas" pitchFamily="34" charset="-122"/>
                <a:cs typeface="Consolas" pitchFamily="34" charset="-120"/>
              </a:rPr>
              <a:t>node.unvisited</a:t>
            </a:r>
            <a:r>
              <a:rPr lang="en-US" sz="900" dirty="0">
                <a:solidFill>
                  <a:srgbClr val="E6EDF3"/>
                </a:solidFill>
                <a:latin typeface="Consolas" pitchFamily="34" charset="0"/>
                <a:ea typeface="Consolas" pitchFamily="34" charset="-122"/>
                <a:cs typeface="Consolas" pitchFamily="34" charset="-120"/>
              </a:rPr>
              <a:t>:</a:t>
            </a:r>
          </a:p>
          <a:p>
            <a:pPr>
              <a:lnSpc>
                <a:spcPct val="133000"/>
              </a:lnSpc>
            </a:pPr>
            <a:r>
              <a:rPr lang="en-US" sz="900" dirty="0">
                <a:solidFill>
                  <a:srgbClr val="E6EDF3"/>
                </a:solidFill>
                <a:latin typeface="Consolas" pitchFamily="34" charset="0"/>
                <a:ea typeface="Consolas" pitchFamily="34" charset="-122"/>
                <a:cs typeface="Consolas" pitchFamily="34" charset="-120"/>
              </a:rPr>
              <a:t>            child ← extend node with v</a:t>
            </a:r>
          </a:p>
          <a:p>
            <a:pPr>
              <a:lnSpc>
                <a:spcPct val="133000"/>
              </a:lnSpc>
            </a:pPr>
            <a:r>
              <a:rPr lang="en-US" sz="900" dirty="0">
                <a:solidFill>
                  <a:srgbClr val="E6EDF3"/>
                </a:solidFill>
                <a:latin typeface="Consolas" pitchFamily="34" charset="0"/>
                <a:ea typeface="Consolas" pitchFamily="34" charset="-122"/>
                <a:cs typeface="Consolas" pitchFamily="34" charset="-120"/>
              </a:rPr>
              <a:t>            </a:t>
            </a:r>
            <a:r>
              <a:rPr lang="en-US" sz="900" dirty="0" err="1">
                <a:solidFill>
                  <a:srgbClr val="E6EDF3"/>
                </a:solidFill>
                <a:latin typeface="Consolas" pitchFamily="34" charset="0"/>
                <a:ea typeface="Consolas" pitchFamily="34" charset="-122"/>
                <a:cs typeface="Consolas" pitchFamily="34" charset="-120"/>
              </a:rPr>
              <a:t>child.lowerBound</a:t>
            </a:r>
            <a:r>
              <a:rPr lang="en-US" sz="900" dirty="0">
                <a:solidFill>
                  <a:srgbClr val="E6EDF3"/>
                </a:solidFill>
                <a:latin typeface="Consolas" pitchFamily="34" charset="0"/>
                <a:ea typeface="Consolas" pitchFamily="34" charset="-122"/>
                <a:cs typeface="Consolas" pitchFamily="34" charset="-120"/>
              </a:rPr>
              <a:t> ← LB(child)</a:t>
            </a:r>
          </a:p>
          <a:p>
            <a:pPr>
              <a:lnSpc>
                <a:spcPct val="133000"/>
              </a:lnSpc>
            </a:pPr>
            <a:endParaRPr lang="en-US" sz="900" dirty="0">
              <a:solidFill>
                <a:srgbClr val="E6EDF3"/>
              </a:solidFill>
              <a:latin typeface="Consolas" pitchFamily="34" charset="0"/>
              <a:ea typeface="Consolas" pitchFamily="34" charset="-122"/>
              <a:cs typeface="Consolas" pitchFamily="34" charset="-120"/>
            </a:endParaRPr>
          </a:p>
          <a:p>
            <a:pPr>
              <a:lnSpc>
                <a:spcPct val="133000"/>
              </a:lnSpc>
            </a:pPr>
            <a:r>
              <a:rPr lang="en-US" sz="900" dirty="0">
                <a:solidFill>
                  <a:srgbClr val="E6EDF3"/>
                </a:solidFill>
                <a:latin typeface="Consolas" pitchFamily="34" charset="0"/>
                <a:ea typeface="Consolas" pitchFamily="34" charset="-122"/>
                <a:cs typeface="Consolas" pitchFamily="34" charset="-120"/>
              </a:rPr>
              <a:t>            if </a:t>
            </a:r>
            <a:r>
              <a:rPr lang="en-US" sz="900" dirty="0" err="1">
                <a:solidFill>
                  <a:srgbClr val="E6EDF3"/>
                </a:solidFill>
                <a:latin typeface="Consolas" pitchFamily="34" charset="0"/>
                <a:ea typeface="Consolas" pitchFamily="34" charset="-122"/>
                <a:cs typeface="Consolas" pitchFamily="34" charset="-120"/>
              </a:rPr>
              <a:t>child.lowerBound</a:t>
            </a:r>
            <a:r>
              <a:rPr lang="en-US" sz="900" dirty="0">
                <a:solidFill>
                  <a:srgbClr val="E6EDF3"/>
                </a:solidFill>
                <a:latin typeface="Consolas" pitchFamily="34" charset="0"/>
                <a:ea typeface="Consolas" pitchFamily="34" charset="-122"/>
                <a:cs typeface="Consolas" pitchFamily="34" charset="-120"/>
              </a:rPr>
              <a:t> &lt; </a:t>
            </a:r>
            <a:r>
              <a:rPr lang="en-US" sz="900" dirty="0" err="1">
                <a:solidFill>
                  <a:srgbClr val="E6EDF3"/>
                </a:solidFill>
                <a:latin typeface="Consolas" pitchFamily="34" charset="0"/>
                <a:ea typeface="Consolas" pitchFamily="34" charset="-122"/>
                <a:cs typeface="Consolas" pitchFamily="34" charset="-120"/>
              </a:rPr>
              <a:t>bestCost</a:t>
            </a:r>
            <a:r>
              <a:rPr lang="en-US" sz="900" dirty="0">
                <a:solidFill>
                  <a:srgbClr val="E6EDF3"/>
                </a:solidFill>
                <a:latin typeface="Consolas" pitchFamily="34" charset="0"/>
                <a:ea typeface="Consolas" pitchFamily="34" charset="-122"/>
                <a:cs typeface="Consolas" pitchFamily="34" charset="-120"/>
              </a:rPr>
              <a:t>:</a:t>
            </a:r>
          </a:p>
          <a:p>
            <a:pPr>
              <a:lnSpc>
                <a:spcPct val="133000"/>
              </a:lnSpc>
            </a:pPr>
            <a:r>
              <a:rPr lang="en-US" sz="900" dirty="0">
                <a:solidFill>
                  <a:srgbClr val="E6EDF3"/>
                </a:solidFill>
                <a:latin typeface="Consolas" pitchFamily="34" charset="0"/>
                <a:ea typeface="Consolas" pitchFamily="34" charset="-122"/>
                <a:cs typeface="Consolas" pitchFamily="34" charset="-120"/>
              </a:rPr>
              <a:t>                push child into PQ</a:t>
            </a:r>
          </a:p>
          <a:p>
            <a:pPr>
              <a:lnSpc>
                <a:spcPct val="133000"/>
              </a:lnSpc>
            </a:pPr>
            <a:endParaRPr lang="en-US" sz="900" dirty="0">
              <a:solidFill>
                <a:srgbClr val="E6EDF3"/>
              </a:solidFill>
              <a:latin typeface="Consolas" pitchFamily="34" charset="0"/>
              <a:ea typeface="Consolas" pitchFamily="34" charset="-122"/>
              <a:cs typeface="Consolas" pitchFamily="34" charset="-120"/>
            </a:endParaRPr>
          </a:p>
          <a:p>
            <a:pPr>
              <a:lnSpc>
                <a:spcPct val="133000"/>
              </a:lnSpc>
            </a:pPr>
            <a:r>
              <a:rPr lang="en-US" sz="900" dirty="0">
                <a:solidFill>
                  <a:srgbClr val="E6EDF3"/>
                </a:solidFill>
                <a:latin typeface="Consolas" pitchFamily="34" charset="0"/>
                <a:ea typeface="Consolas" pitchFamily="34" charset="-122"/>
                <a:cs typeface="Consolas" pitchFamily="34" charset="-120"/>
              </a:rPr>
              <a:t>return </a:t>
            </a:r>
            <a:r>
              <a:rPr lang="en-US" sz="900" dirty="0" err="1">
                <a:solidFill>
                  <a:srgbClr val="E6EDF3"/>
                </a:solidFill>
                <a:latin typeface="Consolas" pitchFamily="34" charset="0"/>
                <a:ea typeface="Consolas" pitchFamily="34" charset="-122"/>
                <a:cs typeface="Consolas" pitchFamily="34" charset="-120"/>
              </a:rPr>
              <a:t>bestTour</a:t>
            </a:r>
            <a:r>
              <a:rPr lang="en-US" sz="900" dirty="0">
                <a:solidFill>
                  <a:srgbClr val="E6EDF3"/>
                </a:solidFill>
                <a:latin typeface="Consolas" pitchFamily="34" charset="0"/>
                <a:ea typeface="Consolas" pitchFamily="34" charset="-122"/>
                <a:cs typeface="Consolas" pitchFamily="34" charset="-120"/>
              </a:rPr>
              <a:t>, </a:t>
            </a:r>
            <a:r>
              <a:rPr lang="en-US" sz="900" dirty="0" err="1">
                <a:solidFill>
                  <a:srgbClr val="E6EDF3"/>
                </a:solidFill>
                <a:latin typeface="Consolas" pitchFamily="34" charset="0"/>
                <a:ea typeface="Consolas" pitchFamily="34" charset="-122"/>
                <a:cs typeface="Consolas" pitchFamily="34" charset="-120"/>
              </a:rPr>
              <a:t>bestCost</a:t>
            </a:r>
            <a:endParaRPr lang="en-US" sz="900" dirty="0">
              <a:solidFill>
                <a:srgbClr val="E6EDF3"/>
              </a:solidFill>
              <a:latin typeface="Consolas" pitchFamily="34" charset="0"/>
              <a:ea typeface="Consolas" pitchFamily="34" charset="-122"/>
              <a:cs typeface="Consolas" pitchFamily="34" charset="-120"/>
            </a:endParaRPr>
          </a:p>
        </p:txBody>
      </p:sp>
      <p:sp>
        <p:nvSpPr>
          <p:cNvPr id="7" name="Shape 5"/>
          <p:cNvSpPr/>
          <p:nvPr/>
        </p:nvSpPr>
        <p:spPr>
          <a:xfrm>
            <a:off x="8280193" y="355600"/>
            <a:ext cx="3006154" cy="304800"/>
          </a:xfrm>
          <a:prstGeom prst="roundRect">
            <a:avLst>
              <a:gd name="adj" fmla="val 3750"/>
            </a:avLst>
          </a:prstGeom>
          <a:solidFill>
            <a:srgbClr val="00364D"/>
          </a:solidFill>
          <a:ln/>
        </p:spPr>
      </p:sp>
      <p:sp>
        <p:nvSpPr>
          <p:cNvPr id="8" name="Text 6"/>
          <p:cNvSpPr/>
          <p:nvPr/>
        </p:nvSpPr>
        <p:spPr>
          <a:xfrm>
            <a:off x="8394490" y="436562"/>
            <a:ext cx="3387144" cy="190500"/>
          </a:xfrm>
          <a:prstGeom prst="rect">
            <a:avLst/>
          </a:prstGeom>
          <a:noFill/>
          <a:ln/>
        </p:spPr>
        <p:txBody>
          <a:bodyPr wrap="none" lIns="0" tIns="0" rIns="0" bIns="0" rtlCol="0" anchor="t"/>
          <a:lstStyle/>
          <a:p>
            <a:pPr marL="0" indent="0" algn="l">
              <a:lnSpc>
                <a:spcPct val="104000"/>
              </a:lnSpc>
              <a:buNone/>
            </a:pPr>
            <a:r>
              <a:rPr lang="en-US" sz="1200" kern="100" spc="192" dirty="0">
                <a:solidFill>
                  <a:srgbClr val="D5D5D5"/>
                </a:solidFill>
                <a:latin typeface="Michroma" pitchFamily="34" charset="0"/>
                <a:ea typeface="Michroma" pitchFamily="34" charset="-122"/>
                <a:cs typeface="Michroma" pitchFamily="34" charset="-120"/>
              </a:rPr>
              <a:t>VALID LOWER BOUND</a:t>
            </a:r>
            <a:endParaRPr lang="en-US" sz="1200" dirty="0"/>
          </a:p>
        </p:txBody>
      </p:sp>
      <p:sp>
        <p:nvSpPr>
          <p:cNvPr id="9" name="Shape 7"/>
          <p:cNvSpPr/>
          <p:nvPr/>
        </p:nvSpPr>
        <p:spPr>
          <a:xfrm>
            <a:off x="8280193" y="996950"/>
            <a:ext cx="3555911" cy="495300"/>
          </a:xfrm>
          <a:prstGeom prst="roundRect">
            <a:avLst>
              <a:gd name="adj" fmla="val 2308"/>
            </a:avLst>
          </a:prstGeom>
          <a:noFill/>
          <a:ln w="6350">
            <a:solidFill>
              <a:srgbClr val="DADADA"/>
            </a:solidFill>
            <a:prstDash val="solid"/>
          </a:ln>
        </p:spPr>
      </p:sp>
      <p:sp>
        <p:nvSpPr>
          <p:cNvPr id="10" name="Text 8"/>
          <p:cNvSpPr/>
          <p:nvPr/>
        </p:nvSpPr>
        <p:spPr>
          <a:xfrm>
            <a:off x="8394490" y="1077913"/>
            <a:ext cx="3327317" cy="381000"/>
          </a:xfrm>
          <a:prstGeom prst="rect">
            <a:avLst/>
          </a:prstGeom>
          <a:noFill/>
          <a:ln/>
        </p:spPr>
        <p:txBody>
          <a:bodyPr wrap="square" lIns="0" tIns="0" rIns="0" bIns="0" rtlCol="0" anchor="t">
            <a:normAutofit/>
          </a:bodyPr>
          <a:lstStyle/>
          <a:p>
            <a:pPr marL="0" indent="0" algn="l">
              <a:lnSpc>
                <a:spcPct val="104000"/>
              </a:lnSpc>
              <a:buNone/>
            </a:pPr>
            <a:r>
              <a:rPr lang="en-US" sz="1200" kern="100" spc="192" dirty="0">
                <a:solidFill>
                  <a:srgbClr val="DADADA"/>
                </a:solidFill>
                <a:latin typeface="Michroma" pitchFamily="34" charset="0"/>
                <a:ea typeface="Michroma" pitchFamily="34" charset="-122"/>
                <a:cs typeface="Michroma" pitchFamily="34" charset="-120"/>
              </a:rPr>
              <a:t>BRANCH → BOUND → PRUNE</a:t>
            </a:r>
            <a:endParaRPr lang="en-US" sz="1200" dirty="0"/>
          </a:p>
        </p:txBody>
      </p:sp>
      <p:sp>
        <p:nvSpPr>
          <p:cNvPr id="11" name="Text 9"/>
          <p:cNvSpPr/>
          <p:nvPr/>
        </p:nvSpPr>
        <p:spPr>
          <a:xfrm>
            <a:off x="8280193" y="1571625"/>
            <a:ext cx="3555911" cy="1257300"/>
          </a:xfrm>
          <a:prstGeom prst="rect">
            <a:avLst/>
          </a:prstGeom>
          <a:noFill/>
          <a:ln/>
        </p:spPr>
        <p:txBody>
          <a:bodyPr wrap="square" lIns="0" tIns="0" rIns="0" bIns="0" rtlCol="0" anchor="t">
            <a:normAutofit/>
          </a:bodyPr>
          <a:lstStyle/>
          <a:p>
            <a:pPr marL="0" indent="0" algn="l">
              <a:lnSpc>
                <a:spcPct val="110000"/>
              </a:lnSpc>
              <a:buNone/>
            </a:pPr>
            <a:r>
              <a:rPr lang="en-US" sz="2500" dirty="0">
                <a:solidFill>
                  <a:srgbClr val="D5D5D5"/>
                </a:solidFill>
                <a:latin typeface="Exo" pitchFamily="34" charset="0"/>
                <a:ea typeface="Exo" pitchFamily="34" charset="-122"/>
                <a:cs typeface="Exo" pitchFamily="34" charset="-120"/>
              </a:rPr>
              <a:t>LB = cost-so-far + MST(unvisited) + connectors</a:t>
            </a:r>
            <a:endParaRPr lang="en-US" sz="2500" dirty="0"/>
          </a:p>
        </p:txBody>
      </p:sp>
      <p:sp>
        <p:nvSpPr>
          <p:cNvPr id="12" name="Text 10"/>
          <p:cNvSpPr/>
          <p:nvPr/>
        </p:nvSpPr>
        <p:spPr>
          <a:xfrm>
            <a:off x="8280193" y="2971800"/>
            <a:ext cx="3555911"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Add the cheapest current-to-unvisited edge and cheapest unvisited-to-A edge.</a:t>
            </a:r>
            <a:endParaRPr lang="en-US" sz="1500" dirty="0"/>
          </a:p>
        </p:txBody>
      </p:sp>
      <p:sp>
        <p:nvSpPr>
          <p:cNvPr id="13" name="Shape 11"/>
          <p:cNvSpPr/>
          <p:nvPr/>
        </p:nvSpPr>
        <p:spPr>
          <a:xfrm>
            <a:off x="8280193" y="3736578"/>
            <a:ext cx="888879" cy="31651"/>
          </a:xfrm>
          <a:prstGeom prst="roundRect">
            <a:avLst>
              <a:gd name="adj" fmla="val 49998"/>
            </a:avLst>
          </a:prstGeom>
          <a:solidFill>
            <a:srgbClr val="9BE1FF"/>
          </a:solidFill>
          <a:ln/>
        </p:spPr>
      </p:sp>
      <p:sp>
        <p:nvSpPr>
          <p:cNvPr id="14" name="Text 12"/>
          <p:cNvSpPr/>
          <p:nvPr/>
        </p:nvSpPr>
        <p:spPr>
          <a:xfrm>
            <a:off x="8280193" y="3992166"/>
            <a:ext cx="3555911"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D5D5D5"/>
                </a:solidFill>
                <a:latin typeface="Exo" pitchFamily="34" charset="0"/>
                <a:ea typeface="Exo" pitchFamily="34" charset="-122"/>
                <a:cs typeface="Exo" pitchFamily="34" charset="-120"/>
              </a:rPr>
              <a:t>Priority-first finds strong incumbents early; handle empty or singleton unvisited sets by closing the route.</a:t>
            </a:r>
            <a:endParaRPr lang="en-US" sz="1500" dirty="0"/>
          </a:p>
        </p:txBody>
      </p:sp>
      <p:sp>
        <p:nvSpPr>
          <p:cNvPr id="15" name="Text 13"/>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3387" y="762000"/>
            <a:ext cx="5333867" cy="174228"/>
          </a:xfrm>
          <a:prstGeom prst="rect">
            <a:avLst/>
          </a:prstGeom>
          <a:noFill/>
          <a:ln/>
        </p:spPr>
        <p:txBody>
          <a:bodyPr wrap="none" lIns="0" tIns="0" rIns="0" bIns="0" rtlCol="0" anchor="t"/>
          <a:lstStyle/>
          <a:p>
            <a:pPr marL="0" indent="0" algn="l">
              <a:lnSpc>
                <a:spcPct val="108000"/>
              </a:lnSpc>
              <a:buNone/>
            </a:pPr>
            <a:r>
              <a:rPr lang="en-US" sz="1050" kern="100" spc="90" dirty="0">
                <a:solidFill>
                  <a:srgbClr val="B5B5B5"/>
                </a:solidFill>
                <a:latin typeface="Fira Mono Medium" pitchFamily="34" charset="0"/>
                <a:ea typeface="Fira Mono Medium" pitchFamily="34" charset="-122"/>
                <a:cs typeface="Fira Mono Medium" pitchFamily="34" charset="-120"/>
              </a:rPr>
              <a:t>SAME INSTANCE · DIFFERENT WORK</a:t>
            </a:r>
            <a:endParaRPr lang="en-US" sz="1050" dirty="0"/>
          </a:p>
        </p:txBody>
      </p:sp>
      <p:sp>
        <p:nvSpPr>
          <p:cNvPr id="3" name="Text 1"/>
          <p:cNvSpPr/>
          <p:nvPr/>
        </p:nvSpPr>
        <p:spPr>
          <a:xfrm>
            <a:off x="533387" y="1038075"/>
            <a:ext cx="5333867" cy="912217"/>
          </a:xfrm>
          <a:prstGeom prst="rect">
            <a:avLst/>
          </a:prstGeom>
          <a:noFill/>
          <a:ln/>
        </p:spPr>
        <p:txBody>
          <a:bodyPr wrap="square" lIns="0" tIns="0" rIns="0" bIns="0" rtlCol="0" anchor="t">
            <a:normAutofit lnSpcReduction="10000"/>
          </a:bodyPr>
          <a:lstStyle/>
          <a:p>
            <a:pPr marL="0" indent="0" algn="l">
              <a:lnSpc>
                <a:spcPct val="89000"/>
              </a:lnSpc>
              <a:buNone/>
            </a:pPr>
            <a:r>
              <a:rPr lang="en-US" sz="3350" kern="100" spc="-40" dirty="0">
                <a:solidFill>
                  <a:srgbClr val="ECECEC"/>
                </a:solidFill>
                <a:latin typeface="Exo SemiBold" pitchFamily="34" charset="0"/>
                <a:ea typeface="Exo SemiBold" pitchFamily="34" charset="-122"/>
                <a:cs typeface="Exo SemiBold" pitchFamily="34" charset="-120"/>
              </a:rPr>
              <a:t>Same four cities, different search behavior</a:t>
            </a:r>
            <a:endParaRPr lang="en-US" sz="3350" dirty="0"/>
          </a:p>
        </p:txBody>
      </p:sp>
      <p:sp>
        <p:nvSpPr>
          <p:cNvPr id="4" name="Shape 2"/>
          <p:cNvSpPr/>
          <p:nvPr/>
        </p:nvSpPr>
        <p:spPr>
          <a:xfrm>
            <a:off x="533387" y="2148185"/>
            <a:ext cx="1333467" cy="19050"/>
          </a:xfrm>
          <a:prstGeom prst="roundRect">
            <a:avLst>
              <a:gd name="adj" fmla="val 49999"/>
            </a:avLst>
          </a:prstGeom>
          <a:solidFill>
            <a:srgbClr val="9BE1FF"/>
          </a:solidFill>
          <a:ln/>
        </p:spPr>
      </p:sp>
      <p:sp>
        <p:nvSpPr>
          <p:cNvPr id="5" name="Text 3"/>
          <p:cNvSpPr/>
          <p:nvPr/>
        </p:nvSpPr>
        <p:spPr>
          <a:xfrm>
            <a:off x="533387" y="2317948"/>
            <a:ext cx="5333867" cy="254198"/>
          </a:xfrm>
          <a:prstGeom prst="rect">
            <a:avLst/>
          </a:prstGeom>
          <a:noFill/>
          <a:ln/>
        </p:spPr>
        <p:txBody>
          <a:bodyPr wrap="none" lIns="0" tIns="0" rIns="0" bIns="0" rtlCol="0" anchor="t"/>
          <a:lstStyle/>
          <a:p>
            <a:pPr marL="0" indent="0" algn="l">
              <a:lnSpc>
                <a:spcPct val="116000"/>
              </a:lnSpc>
              <a:buNone/>
            </a:pPr>
            <a:r>
              <a:rPr lang="en-US" sz="1450" dirty="0">
                <a:solidFill>
                  <a:srgbClr val="D5D5D5"/>
                </a:solidFill>
                <a:latin typeface="Exo" pitchFamily="34" charset="0"/>
                <a:ea typeface="Exo" pitchFamily="34" charset="-122"/>
                <a:cs typeface="Exo" pitchFamily="34" charset="-120"/>
              </a:rPr>
              <a:t>Both methods return the exact optimum:</a:t>
            </a:r>
            <a:endParaRPr lang="en-US" sz="1450" dirty="0"/>
          </a:p>
        </p:txBody>
      </p:sp>
      <p:sp>
        <p:nvSpPr>
          <p:cNvPr id="6" name="Text 4"/>
          <p:cNvSpPr/>
          <p:nvPr/>
        </p:nvSpPr>
        <p:spPr>
          <a:xfrm>
            <a:off x="533387" y="2821069"/>
            <a:ext cx="5333867" cy="686991"/>
          </a:xfrm>
          <a:prstGeom prst="rect">
            <a:avLst/>
          </a:prstGeom>
          <a:noFill/>
          <a:ln/>
        </p:spPr>
        <p:txBody>
          <a:bodyPr wrap="none" lIns="0" tIns="0" rIns="0" bIns="0" rtlCol="0" anchor="t"/>
          <a:lstStyle/>
          <a:p>
            <a:pPr marL="0" indent="0" algn="l">
              <a:lnSpc>
                <a:spcPct val="78000"/>
              </a:lnSpc>
              <a:buNone/>
            </a:pPr>
            <a:r>
              <a:rPr lang="en-US" sz="5750" b="1" kern="100" spc="-230" dirty="0">
                <a:solidFill>
                  <a:srgbClr val="ECECEC"/>
                </a:solidFill>
                <a:latin typeface="MuseoModerno Bold" pitchFamily="34" charset="0"/>
                <a:ea typeface="MuseoModerno Bold" pitchFamily="34" charset="-122"/>
                <a:cs typeface="MuseoModerno Bold" pitchFamily="34" charset="-120"/>
              </a:rPr>
              <a:t>A–B–D–C–A = </a:t>
            </a:r>
            <a:r>
              <a:rPr lang="en-US" sz="5750" b="1" kern="100" spc="-230" dirty="0">
                <a:solidFill>
                  <a:srgbClr val="9BE1FF"/>
                </a:solidFill>
                <a:latin typeface="MuseoModerno Bold" pitchFamily="34" charset="0"/>
                <a:ea typeface="MuseoModerno Bold" pitchFamily="34" charset="-122"/>
                <a:cs typeface="MuseoModerno Bold" pitchFamily="34" charset="-120"/>
              </a:rPr>
              <a:t>80</a:t>
            </a:r>
            <a:endParaRPr lang="en-US" sz="5750" dirty="0"/>
          </a:p>
        </p:txBody>
      </p:sp>
      <p:sp>
        <p:nvSpPr>
          <p:cNvPr id="7" name="Text 5"/>
          <p:cNvSpPr/>
          <p:nvPr/>
        </p:nvSpPr>
        <p:spPr>
          <a:xfrm>
            <a:off x="533387" y="3603724"/>
            <a:ext cx="5333867" cy="508397"/>
          </a:xfrm>
          <a:prstGeom prst="rect">
            <a:avLst/>
          </a:prstGeom>
          <a:noFill/>
          <a:ln/>
        </p:spPr>
        <p:txBody>
          <a:bodyPr wrap="square" lIns="0" tIns="0" rIns="0" bIns="0" rtlCol="0" anchor="t">
            <a:normAutofit/>
          </a:bodyPr>
          <a:lstStyle/>
          <a:p>
            <a:pPr marL="0" indent="0" algn="l">
              <a:lnSpc>
                <a:spcPct val="116000"/>
              </a:lnSpc>
              <a:buNone/>
            </a:pPr>
            <a:r>
              <a:rPr lang="en-US" sz="1450" dirty="0">
                <a:solidFill>
                  <a:srgbClr val="D5D5D5"/>
                </a:solidFill>
                <a:latin typeface="Exo" pitchFamily="34" charset="0"/>
                <a:ea typeface="Exo" pitchFamily="34" charset="-122"/>
                <a:cs typeface="Exo" pitchFamily="34" charset="-120"/>
              </a:rPr>
              <a:t>What changes is how much of the search they expose before proving that 80 is best.</a:t>
            </a:r>
            <a:endParaRPr lang="en-US" sz="14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33387" y="4217194"/>
          <a:ext cx="5333868" cy="1721799"/>
        </p:xfrm>
        <a:graphic>
          <a:graphicData uri="http://schemas.openxmlformats.org/drawingml/2006/table">
            <a:tbl>
              <a:tblPr/>
              <a:tblGrid>
                <a:gridCol w="1777956">
                  <a:extLst>
                    <a:ext uri="{9D8B030D-6E8A-4147-A177-3AD203B41FA5}">
                      <a16:colId xmlns:a16="http://schemas.microsoft.com/office/drawing/2014/main" val="20000"/>
                    </a:ext>
                  </a:extLst>
                </a:gridCol>
                <a:gridCol w="1777956">
                  <a:extLst>
                    <a:ext uri="{9D8B030D-6E8A-4147-A177-3AD203B41FA5}">
                      <a16:colId xmlns:a16="http://schemas.microsoft.com/office/drawing/2014/main" val="20001"/>
                    </a:ext>
                  </a:extLst>
                </a:gridCol>
                <a:gridCol w="1777956">
                  <a:extLst>
                    <a:ext uri="{9D8B030D-6E8A-4147-A177-3AD203B41FA5}">
                      <a16:colId xmlns:a16="http://schemas.microsoft.com/office/drawing/2014/main" val="20002"/>
                    </a:ext>
                  </a:extLst>
                </a:gridCol>
              </a:tblGrid>
              <a:tr h="406588">
                <a:tc>
                  <a:txBody>
                    <a:bodyPr/>
                    <a:lstStyle/>
                    <a:p>
                      <a:pPr marL="0" indent="0" algn="l">
                        <a:buNone/>
                      </a:pPr>
                      <a:r>
                        <a:rPr lang="en-US" sz="1450" dirty="0">
                          <a:solidFill>
                            <a:srgbClr val="ECECEC"/>
                          </a:solidFill>
                          <a:latin typeface="Exo" pitchFamily="34" charset="0"/>
                          <a:ea typeface="Exo" pitchFamily="34" charset="-122"/>
                          <a:cs typeface="Exo" pitchFamily="34" charset="-120"/>
                        </a:rPr>
                        <a:t>Method</a:t>
                      </a:r>
                      <a:endParaRPr lang="en-US" sz="1450" dirty="0">
                        <a:latin typeface="Exo" charset="0"/>
                        <a:ea typeface="Exo" charset="0"/>
                        <a:cs typeface="Exo" charset="0"/>
                      </a:endParaRPr>
                    </a:p>
                  </a:txBody>
                  <a:tcPr marL="137043" marR="137043" marT="73090" marB="73090"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marL="0" indent="0" algn="l">
                        <a:buNone/>
                      </a:pPr>
                      <a:r>
                        <a:rPr lang="en-US" sz="1450" dirty="0">
                          <a:solidFill>
                            <a:srgbClr val="ECECEC"/>
                          </a:solidFill>
                          <a:latin typeface="Exo" pitchFamily="34" charset="0"/>
                          <a:ea typeface="Exo" pitchFamily="34" charset="-122"/>
                          <a:cs typeface="Exo" pitchFamily="34" charset="-120"/>
                        </a:rPr>
                        <a:t>Complete tours</a:t>
                      </a:r>
                      <a:endParaRPr lang="en-US" sz="1450" dirty="0">
                        <a:latin typeface="Exo" charset="0"/>
                        <a:ea typeface="Exo" charset="0"/>
                        <a:cs typeface="Exo" charset="0"/>
                      </a:endParaRPr>
                    </a:p>
                  </a:txBody>
                  <a:tcPr marL="137043" marR="137043" marT="73090" marB="73090"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marL="0" indent="0" algn="l">
                        <a:buNone/>
                      </a:pPr>
                      <a:r>
                        <a:rPr lang="en-US" sz="1450" dirty="0">
                          <a:solidFill>
                            <a:srgbClr val="ECECEC"/>
                          </a:solidFill>
                          <a:latin typeface="Exo" pitchFamily="34" charset="0"/>
                          <a:ea typeface="Exo" pitchFamily="34" charset="-122"/>
                          <a:cs typeface="Exo" pitchFamily="34" charset="-120"/>
                        </a:rPr>
                        <a:t>Partial routes</a:t>
                      </a:r>
                      <a:endParaRPr lang="en-US" sz="1450" dirty="0">
                        <a:latin typeface="Exo" charset="0"/>
                        <a:ea typeface="Exo" charset="0"/>
                        <a:cs typeface="Exo" charset="0"/>
                      </a:endParaRPr>
                    </a:p>
                  </a:txBody>
                  <a:tcPr marL="137043" marR="137043" marT="73090" marB="73090"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extLst>
                  <a:ext uri="{0D108BD9-81ED-4DB2-BD59-A6C34878D82A}">
                    <a16:rowId xmlns:a16="http://schemas.microsoft.com/office/drawing/2014/main" val="10000"/>
                  </a:ext>
                </a:extLst>
              </a:tr>
              <a:tr h="660780">
                <a:tc>
                  <a:txBody>
                    <a:bodyPr/>
                    <a:lstStyle/>
                    <a:p>
                      <a:pPr marL="0" indent="0" algn="l">
                        <a:buNone/>
                      </a:pPr>
                      <a:r>
                        <a:rPr lang="en-US" sz="1450" dirty="0">
                          <a:solidFill>
                            <a:srgbClr val="D5D5D5"/>
                          </a:solidFill>
                          <a:latin typeface="Exo" pitchFamily="34" charset="0"/>
                          <a:ea typeface="Exo" pitchFamily="34" charset="-122"/>
                          <a:cs typeface="Exo" pitchFamily="34" charset="-120"/>
                        </a:rPr>
                        <a:t>Brute force</a:t>
                      </a:r>
                      <a:endParaRPr lang="en-US" sz="1450" dirty="0">
                        <a:latin typeface="Exo" charset="0"/>
                        <a:ea typeface="Exo" charset="0"/>
                        <a:cs typeface="Exo" charset="0"/>
                      </a:endParaRPr>
                    </a:p>
                  </a:txBody>
                  <a:tcPr marL="137043" marR="137043" marT="73090" marB="73090"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marL="0" indent="0" algn="l">
                        <a:buNone/>
                      </a:pPr>
                      <a:r>
                        <a:rPr lang="en-US" sz="1450" dirty="0">
                          <a:solidFill>
                            <a:srgbClr val="D5D5D5"/>
                          </a:solidFill>
                          <a:latin typeface="Exo" pitchFamily="34" charset="0"/>
                          <a:ea typeface="Exo" pitchFamily="34" charset="-122"/>
                          <a:cs typeface="Exo" pitchFamily="34" charset="-120"/>
                        </a:rPr>
                        <a:t>Every unique tour checked</a:t>
                      </a:r>
                      <a:endParaRPr lang="en-US" sz="1450" dirty="0">
                        <a:latin typeface="Exo" charset="0"/>
                        <a:ea typeface="Exo" charset="0"/>
                        <a:cs typeface="Exo" charset="0"/>
                      </a:endParaRPr>
                    </a:p>
                  </a:txBody>
                  <a:tcPr marL="137043" marR="137043" marT="73090" marB="73090"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marL="0" indent="0" algn="l">
                        <a:buNone/>
                      </a:pPr>
                      <a:r>
                        <a:rPr lang="en-US" sz="1450" dirty="0">
                          <a:solidFill>
                            <a:srgbClr val="D5D5D5"/>
                          </a:solidFill>
                          <a:latin typeface="Exo" pitchFamily="34" charset="0"/>
                          <a:ea typeface="Exo" pitchFamily="34" charset="-122"/>
                          <a:cs typeface="Exo" pitchFamily="34" charset="-120"/>
                        </a:rPr>
                        <a:t>None cut</a:t>
                      </a:r>
                      <a:endParaRPr lang="en-US" sz="1450" dirty="0">
                        <a:latin typeface="Exo" charset="0"/>
                        <a:ea typeface="Exo" charset="0"/>
                        <a:cs typeface="Exo" charset="0"/>
                      </a:endParaRPr>
                    </a:p>
                  </a:txBody>
                  <a:tcPr marL="137043" marR="137043" marT="73090" marB="73090"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extLst>
                  <a:ext uri="{0D108BD9-81ED-4DB2-BD59-A6C34878D82A}">
                    <a16:rowId xmlns:a16="http://schemas.microsoft.com/office/drawing/2014/main" val="10001"/>
                  </a:ext>
                </a:extLst>
              </a:tr>
              <a:tr h="654431">
                <a:tc>
                  <a:txBody>
                    <a:bodyPr/>
                    <a:lstStyle/>
                    <a:p>
                      <a:pPr marL="0" indent="0" algn="l">
                        <a:buNone/>
                      </a:pPr>
                      <a:r>
                        <a:rPr lang="en-US" sz="1450" dirty="0">
                          <a:solidFill>
                            <a:srgbClr val="D5D5D5"/>
                          </a:solidFill>
                          <a:latin typeface="Exo" pitchFamily="34" charset="0"/>
                          <a:ea typeface="Exo" pitchFamily="34" charset="-122"/>
                          <a:cs typeface="Exo" pitchFamily="34" charset="-120"/>
                        </a:rPr>
                        <a:t>Branch and bound</a:t>
                      </a:r>
                      <a:endParaRPr lang="en-US" sz="1450" dirty="0">
                        <a:latin typeface="Exo" charset="0"/>
                        <a:ea typeface="Exo" charset="0"/>
                        <a:cs typeface="Exo" charset="0"/>
                      </a:endParaRPr>
                    </a:p>
                  </a:txBody>
                  <a:tcPr marL="137043" marR="137043" marT="73090" marB="73090"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marL="0" indent="0" algn="l">
                        <a:buNone/>
                      </a:pPr>
                      <a:r>
                        <a:rPr lang="en-US" sz="1450" dirty="0">
                          <a:solidFill>
                            <a:srgbClr val="D5D5D5"/>
                          </a:solidFill>
                          <a:latin typeface="Exo" pitchFamily="34" charset="0"/>
                          <a:ea typeface="Exo" pitchFamily="34" charset="-122"/>
                          <a:cs typeface="Exo" pitchFamily="34" charset="-120"/>
                        </a:rPr>
                        <a:t>Only tours that survive pruning</a:t>
                      </a:r>
                      <a:endParaRPr lang="en-US" sz="1450" dirty="0">
                        <a:latin typeface="Exo" charset="0"/>
                        <a:ea typeface="Exo" charset="0"/>
                        <a:cs typeface="Exo" charset="0"/>
                      </a:endParaRPr>
                    </a:p>
                  </a:txBody>
                  <a:tcPr marL="137043" marR="137043" marT="73090" marB="73090"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marL="0" indent="0" algn="l">
                        <a:buNone/>
                      </a:pPr>
                      <a:r>
                        <a:rPr lang="en-US" sz="1450" dirty="0">
                          <a:solidFill>
                            <a:srgbClr val="D5D5D5"/>
                          </a:solidFill>
                          <a:latin typeface="Exo" pitchFamily="34" charset="0"/>
                          <a:ea typeface="Exo" pitchFamily="34" charset="-122"/>
                          <a:cs typeface="Exo" pitchFamily="34" charset="-120"/>
                        </a:rPr>
                        <a:t>Cut when LB ≥ 80</a:t>
                      </a:r>
                      <a:endParaRPr lang="en-US" sz="1450" dirty="0">
                        <a:latin typeface="Exo" charset="0"/>
                        <a:ea typeface="Exo" charset="0"/>
                        <a:cs typeface="Exo" charset="0"/>
                      </a:endParaRPr>
                    </a:p>
                  </a:txBody>
                  <a:tcPr marL="137043" marR="137043" marT="73090" marB="73090"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Text 6"/>
          <p:cNvSpPr/>
          <p:nvPr/>
        </p:nvSpPr>
        <p:spPr>
          <a:xfrm>
            <a:off x="533387" y="6044109"/>
            <a:ext cx="5333867" cy="176907"/>
          </a:xfrm>
          <a:prstGeom prst="rect">
            <a:avLst/>
          </a:prstGeom>
          <a:noFill/>
          <a:ln/>
        </p:spPr>
        <p:txBody>
          <a:bodyPr wrap="none" lIns="0" tIns="0" rIns="0" bIns="0" rtlCol="0" anchor="t"/>
          <a:lstStyle/>
          <a:p>
            <a:pPr marL="0" indent="0" algn="l">
              <a:lnSpc>
                <a:spcPct val="110000"/>
              </a:lnSpc>
              <a:buNone/>
            </a:pPr>
            <a:r>
              <a:rPr lang="en-US" sz="1050" kern="100" spc="11" dirty="0">
                <a:solidFill>
                  <a:srgbClr val="9D9D9D"/>
                </a:solidFill>
                <a:latin typeface="Exo" pitchFamily="34" charset="0"/>
                <a:ea typeface="Exo" pitchFamily="34" charset="-122"/>
                <a:cs typeface="Exo" pitchFamily="34" charset="-120"/>
              </a:rPr>
              <a:t>Pruning changes the work, not the answer.</a:t>
            </a:r>
            <a:endParaRPr lang="en-US" sz="1050" dirty="0"/>
          </a:p>
        </p:txBody>
      </p:sp>
      <p:sp>
        <p:nvSpPr>
          <p:cNvPr id="8" name="Shape 7"/>
          <p:cNvSpPr/>
          <p:nvPr/>
        </p:nvSpPr>
        <p:spPr>
          <a:xfrm>
            <a:off x="6324442" y="533400"/>
            <a:ext cx="5333867" cy="5916216"/>
          </a:xfrm>
          <a:prstGeom prst="rect">
            <a:avLst/>
          </a:prstGeom>
          <a:solidFill>
            <a:srgbClr val="0E1F40"/>
          </a:solidFill>
          <a:ln/>
        </p:spPr>
      </p:sp>
      <p:sp>
        <p:nvSpPr>
          <p:cNvPr id="11" name="Text 8"/>
          <p:cNvSpPr/>
          <p:nvPr/>
        </p:nvSpPr>
        <p:spPr>
          <a:xfrm>
            <a:off x="6629234" y="913962"/>
            <a:ext cx="2330193" cy="182662"/>
          </a:xfrm>
          <a:prstGeom prst="rect">
            <a:avLst/>
          </a:prstGeom>
          <a:noFill/>
          <a:ln/>
        </p:spPr>
        <p:txBody>
          <a:bodyPr wrap="none" lIns="0" tIns="0" rIns="0" bIns="0" rtlCol="0" anchor="t"/>
          <a:lstStyle/>
          <a:p>
            <a:pPr marL="0" indent="0" algn="l">
              <a:lnSpc>
                <a:spcPct val="104000"/>
              </a:lnSpc>
              <a:buNone/>
            </a:pPr>
            <a:r>
              <a:rPr lang="en-US" sz="1150" kern="100" spc="184" dirty="0">
                <a:solidFill>
                  <a:srgbClr val="DADADA"/>
                </a:solidFill>
                <a:latin typeface="Michroma" pitchFamily="34" charset="0"/>
                <a:ea typeface="Michroma" pitchFamily="34" charset="-122"/>
                <a:cs typeface="Michroma" pitchFamily="34" charset="-120"/>
              </a:rPr>
              <a:t>BRUTE FORCE</a:t>
            </a:r>
            <a:endParaRPr lang="en-US" sz="1150" dirty="0"/>
          </a:p>
        </p:txBody>
      </p:sp>
      <p:sp>
        <p:nvSpPr>
          <p:cNvPr id="12" name="Text 9"/>
          <p:cNvSpPr/>
          <p:nvPr/>
        </p:nvSpPr>
        <p:spPr>
          <a:xfrm>
            <a:off x="6629234" y="1207698"/>
            <a:ext cx="4724282" cy="401935"/>
          </a:xfrm>
          <a:prstGeom prst="rect">
            <a:avLst/>
          </a:prstGeom>
          <a:noFill/>
          <a:ln/>
        </p:spPr>
        <p:txBody>
          <a:bodyPr wrap="none" lIns="0" tIns="0" rIns="0" bIns="0" rtlCol="0" anchor="t"/>
          <a:lstStyle/>
          <a:p>
            <a:pPr marL="0" indent="0" algn="l">
              <a:lnSpc>
                <a:spcPct val="110000"/>
              </a:lnSpc>
              <a:buNone/>
            </a:pPr>
            <a:r>
              <a:rPr lang="en-US" sz="2400" dirty="0">
                <a:solidFill>
                  <a:srgbClr val="D5D5D5"/>
                </a:solidFill>
                <a:latin typeface="Exo" pitchFamily="34" charset="0"/>
                <a:ea typeface="Exo" pitchFamily="34" charset="-122"/>
                <a:cs typeface="Exo" pitchFamily="34" charset="-120"/>
              </a:rPr>
              <a:t>Evaluate every unique tour</a:t>
            </a:r>
            <a:endParaRPr lang="en-US" sz="2400" dirty="0"/>
          </a:p>
        </p:txBody>
      </p:sp>
      <p:sp>
        <p:nvSpPr>
          <p:cNvPr id="13" name="Text 10"/>
          <p:cNvSpPr/>
          <p:nvPr/>
        </p:nvSpPr>
        <p:spPr>
          <a:xfrm>
            <a:off x="6629234" y="1736725"/>
            <a:ext cx="4724282" cy="508397"/>
          </a:xfrm>
          <a:prstGeom prst="rect">
            <a:avLst/>
          </a:prstGeom>
          <a:noFill/>
          <a:ln/>
        </p:spPr>
        <p:txBody>
          <a:bodyPr wrap="square" lIns="0" tIns="0" rIns="0" bIns="0" rtlCol="0" anchor="t">
            <a:normAutofit/>
          </a:bodyPr>
          <a:lstStyle/>
          <a:p>
            <a:pPr marL="0" indent="0" algn="l">
              <a:lnSpc>
                <a:spcPct val="116000"/>
              </a:lnSpc>
              <a:buNone/>
            </a:pPr>
            <a:r>
              <a:rPr lang="en-US" sz="1450" dirty="0">
                <a:solidFill>
                  <a:srgbClr val="D5D5D5"/>
                </a:solidFill>
                <a:latin typeface="Exo" pitchFamily="34" charset="0"/>
                <a:ea typeface="Exo" pitchFamily="34" charset="-122"/>
                <a:cs typeface="Exo" pitchFamily="34" charset="-120"/>
              </a:rPr>
              <a:t>Compare tour costs 80 and 95 with every other unique tour; return the minimum.</a:t>
            </a:r>
            <a:endParaRPr lang="en-US" sz="1450" dirty="0"/>
          </a:p>
        </p:txBody>
      </p:sp>
      <p:sp>
        <p:nvSpPr>
          <p:cNvPr id="14" name="Shape 11"/>
          <p:cNvSpPr/>
          <p:nvPr/>
        </p:nvSpPr>
        <p:spPr>
          <a:xfrm>
            <a:off x="6629234" y="2395835"/>
            <a:ext cx="4724282" cy="19050"/>
          </a:xfrm>
          <a:prstGeom prst="roundRect">
            <a:avLst>
              <a:gd name="adj" fmla="val 49999"/>
            </a:avLst>
          </a:prstGeom>
          <a:solidFill>
            <a:srgbClr val="3F3F3F"/>
          </a:solidFill>
          <a:ln/>
        </p:spPr>
      </p:sp>
      <p:sp>
        <p:nvSpPr>
          <p:cNvPr id="15" name="Text 12"/>
          <p:cNvSpPr/>
          <p:nvPr/>
        </p:nvSpPr>
        <p:spPr>
          <a:xfrm>
            <a:off x="6629234" y="2699800"/>
            <a:ext cx="3253004" cy="182662"/>
          </a:xfrm>
          <a:prstGeom prst="rect">
            <a:avLst/>
          </a:prstGeom>
          <a:noFill/>
          <a:ln/>
        </p:spPr>
        <p:txBody>
          <a:bodyPr wrap="none" lIns="0" tIns="0" rIns="0" bIns="0" rtlCol="0" anchor="t"/>
          <a:lstStyle/>
          <a:p>
            <a:pPr marL="0" indent="0" algn="l">
              <a:lnSpc>
                <a:spcPct val="104000"/>
              </a:lnSpc>
              <a:buNone/>
            </a:pPr>
            <a:r>
              <a:rPr lang="en-US" sz="1150" kern="100" spc="184" dirty="0">
                <a:solidFill>
                  <a:srgbClr val="DADADA"/>
                </a:solidFill>
                <a:latin typeface="Michroma" pitchFamily="34" charset="0"/>
                <a:ea typeface="Michroma" pitchFamily="34" charset="-122"/>
                <a:cs typeface="Michroma" pitchFamily="34" charset="-120"/>
              </a:rPr>
              <a:t>BRANCH AND BOUND</a:t>
            </a:r>
            <a:endParaRPr lang="en-US" sz="1150" dirty="0"/>
          </a:p>
        </p:txBody>
      </p:sp>
      <p:sp>
        <p:nvSpPr>
          <p:cNvPr id="16" name="Text 13"/>
          <p:cNvSpPr/>
          <p:nvPr/>
        </p:nvSpPr>
        <p:spPr>
          <a:xfrm>
            <a:off x="6629234" y="2993537"/>
            <a:ext cx="4724282" cy="401935"/>
          </a:xfrm>
          <a:prstGeom prst="rect">
            <a:avLst/>
          </a:prstGeom>
          <a:noFill/>
          <a:ln/>
        </p:spPr>
        <p:txBody>
          <a:bodyPr wrap="none" lIns="0" tIns="0" rIns="0" bIns="0" rtlCol="0" anchor="t"/>
          <a:lstStyle/>
          <a:p>
            <a:pPr marL="0" indent="0" algn="l">
              <a:lnSpc>
                <a:spcPct val="110000"/>
              </a:lnSpc>
              <a:buNone/>
            </a:pPr>
            <a:r>
              <a:rPr lang="en-US" sz="2400" dirty="0">
                <a:solidFill>
                  <a:srgbClr val="D5D5D5"/>
                </a:solidFill>
                <a:latin typeface="Exo" pitchFamily="34" charset="0"/>
                <a:ea typeface="Exo" pitchFamily="34" charset="-122"/>
                <a:cs typeface="Exo" pitchFamily="34" charset="-120"/>
              </a:rPr>
              <a:t>Find 80, then prune</a:t>
            </a:r>
            <a:endParaRPr lang="en-US" sz="2400" dirty="0"/>
          </a:p>
        </p:txBody>
      </p:sp>
      <p:sp>
        <p:nvSpPr>
          <p:cNvPr id="17" name="Text 14"/>
          <p:cNvSpPr/>
          <p:nvPr/>
        </p:nvSpPr>
        <p:spPr>
          <a:xfrm>
            <a:off x="6629234" y="3522563"/>
            <a:ext cx="5029074" cy="254198"/>
          </a:xfrm>
          <a:prstGeom prst="rect">
            <a:avLst/>
          </a:prstGeom>
          <a:noFill/>
          <a:ln/>
        </p:spPr>
        <p:txBody>
          <a:bodyPr wrap="none" lIns="0" tIns="0" rIns="0" bIns="0" rtlCol="0" anchor="t"/>
          <a:lstStyle/>
          <a:p>
            <a:pPr marL="0" indent="0" algn="l">
              <a:lnSpc>
                <a:spcPct val="116000"/>
              </a:lnSpc>
              <a:buNone/>
            </a:pPr>
            <a:r>
              <a:rPr lang="en-US" sz="1450" dirty="0">
                <a:solidFill>
                  <a:srgbClr val="D5D5D5"/>
                </a:solidFill>
                <a:latin typeface="Exo" pitchFamily="34" charset="0"/>
                <a:ea typeface="Exo" pitchFamily="34" charset="-122"/>
                <a:cs typeface="Exo" pitchFamily="34" charset="-120"/>
              </a:rPr>
              <a:t>Cross out any partial route with LB ≥ 80.</a:t>
            </a:r>
            <a:endParaRPr lang="en-US" sz="1450" dirty="0"/>
          </a:p>
        </p:txBody>
      </p:sp>
      <p:sp>
        <p:nvSpPr>
          <p:cNvPr id="18" name="Text 15"/>
          <p:cNvSpPr/>
          <p:nvPr/>
        </p:nvSpPr>
        <p:spPr>
          <a:xfrm>
            <a:off x="6629234" y="3881834"/>
            <a:ext cx="5029074" cy="176907"/>
          </a:xfrm>
          <a:prstGeom prst="rect">
            <a:avLst/>
          </a:prstGeom>
          <a:noFill/>
          <a:ln/>
        </p:spPr>
        <p:txBody>
          <a:bodyPr wrap="none" lIns="0" tIns="0" rIns="0" bIns="0" rtlCol="0" anchor="t"/>
          <a:lstStyle/>
          <a:p>
            <a:pPr marL="0" indent="0" algn="l">
              <a:lnSpc>
                <a:spcPct val="110000"/>
              </a:lnSpc>
              <a:buNone/>
            </a:pPr>
            <a:r>
              <a:rPr lang="en-US" sz="1050" kern="100" spc="11" dirty="0">
                <a:solidFill>
                  <a:srgbClr val="D5D5D5"/>
                </a:solidFill>
                <a:latin typeface="Exo" pitchFamily="34" charset="0"/>
                <a:ea typeface="Exo" pitchFamily="34" charset="-122"/>
                <a:cs typeface="Exo" pitchFamily="34" charset="-120"/>
              </a:rPr>
              <a:t>Exactness requires a valid lower bound.</a:t>
            </a:r>
            <a:endParaRPr lang="en-US" sz="1050" dirty="0"/>
          </a:p>
        </p:txBody>
      </p:sp>
      <p:sp>
        <p:nvSpPr>
          <p:cNvPr id="19" name="Text 16"/>
          <p:cNvSpPr/>
          <p:nvPr/>
        </p:nvSpPr>
        <p:spPr>
          <a:xfrm>
            <a:off x="11827174" y="6462415"/>
            <a:ext cx="364521" cy="181570"/>
          </a:xfrm>
          <a:prstGeom prst="rect">
            <a:avLst/>
          </a:prstGeom>
          <a:noFill/>
          <a:ln/>
        </p:spPr>
        <p:txBody>
          <a:bodyPr wrap="none" lIns="0" tIns="0" rIns="0" bIns="0" rtlCol="0" anchor="ctr"/>
          <a:lstStyle/>
          <a:p>
            <a:pPr marL="0" indent="0" algn="l">
              <a:lnSpc>
                <a:spcPct val="118000"/>
              </a:lnSpc>
              <a:buNone/>
            </a:pPr>
            <a:r>
              <a:rPr lang="en-US" sz="1000" kern="100" spc="81" dirty="0">
                <a:solidFill>
                  <a:srgbClr val="9D9D9D"/>
                </a:solidFill>
                <a:latin typeface="Fira Mono" pitchFamily="34" charset="0"/>
                <a:ea typeface="Fira Mono" pitchFamily="34" charset="-122"/>
                <a:cs typeface="Fira Mono"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783" y="561022"/>
            <a:ext cx="7035624"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B5B5B5"/>
                </a:solidFill>
                <a:latin typeface="Fira Mono Medium" pitchFamily="34" charset="0"/>
                <a:ea typeface="Fira Mono Medium" pitchFamily="34" charset="-122"/>
                <a:cs typeface="Fira Mono Medium" pitchFamily="34" charset="-120"/>
              </a:rPr>
              <a:t>THE TAKEAWAY</a:t>
            </a:r>
            <a:endParaRPr lang="en-US" sz="1100" dirty="0"/>
          </a:p>
        </p:txBody>
      </p:sp>
      <p:sp>
        <p:nvSpPr>
          <p:cNvPr id="3" name="Text 1"/>
          <p:cNvSpPr/>
          <p:nvPr/>
        </p:nvSpPr>
        <p:spPr>
          <a:xfrm>
            <a:off x="685783" y="853242"/>
            <a:ext cx="6476838" cy="951111"/>
          </a:xfrm>
          <a:prstGeom prst="rect">
            <a:avLst/>
          </a:prstGeom>
          <a:noFill/>
          <a:ln/>
        </p:spPr>
        <p:txBody>
          <a:bodyPr wrap="square" lIns="0" tIns="0" rIns="0" bIns="0" rtlCol="0" anchor="t">
            <a:normAutofit lnSpcReduction="10000"/>
          </a:bodyPr>
          <a:lstStyle/>
          <a:p>
            <a:pPr marL="0" indent="0" algn="l">
              <a:lnSpc>
                <a:spcPct val="89000"/>
              </a:lnSpc>
              <a:buNone/>
            </a:pPr>
            <a:r>
              <a:rPr lang="en-US" sz="3500" kern="100" spc="-42" dirty="0">
                <a:solidFill>
                  <a:srgbClr val="ECECEC"/>
                </a:solidFill>
                <a:latin typeface="Exo SemiBold" pitchFamily="34" charset="0"/>
                <a:ea typeface="Exo SemiBold" pitchFamily="34" charset="-122"/>
                <a:cs typeface="Exo SemiBold" pitchFamily="34" charset="-120"/>
              </a:rPr>
              <a:t>Complexity and where TSP matters</a:t>
            </a:r>
            <a:endParaRPr lang="en-US" sz="3500" dirty="0"/>
          </a:p>
        </p:txBody>
      </p:sp>
      <p:sp>
        <p:nvSpPr>
          <p:cNvPr id="4" name="Shape 2"/>
          <p:cNvSpPr/>
          <p:nvPr/>
        </p:nvSpPr>
        <p:spPr>
          <a:xfrm>
            <a:off x="685783" y="2013744"/>
            <a:ext cx="1619209" cy="31651"/>
          </a:xfrm>
          <a:prstGeom prst="roundRect">
            <a:avLst>
              <a:gd name="adj" fmla="val 49998"/>
            </a:avLst>
          </a:prstGeom>
          <a:solidFill>
            <a:srgbClr val="9BE1F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783" y="2269331"/>
          <a:ext cx="6476838" cy="3103684"/>
        </p:xfrm>
        <a:graphic>
          <a:graphicData uri="http://schemas.openxmlformats.org/drawingml/2006/table">
            <a:tbl>
              <a:tblPr/>
              <a:tblGrid>
                <a:gridCol w="1813475">
                  <a:extLst>
                    <a:ext uri="{9D8B030D-6E8A-4147-A177-3AD203B41FA5}">
                      <a16:colId xmlns:a16="http://schemas.microsoft.com/office/drawing/2014/main" val="20000"/>
                    </a:ext>
                  </a:extLst>
                </a:gridCol>
                <a:gridCol w="2331582">
                  <a:extLst>
                    <a:ext uri="{9D8B030D-6E8A-4147-A177-3AD203B41FA5}">
                      <a16:colId xmlns:a16="http://schemas.microsoft.com/office/drawing/2014/main" val="20001"/>
                    </a:ext>
                  </a:extLst>
                </a:gridCol>
                <a:gridCol w="2331781">
                  <a:extLst>
                    <a:ext uri="{9D8B030D-6E8A-4147-A177-3AD203B41FA5}">
                      <a16:colId xmlns:a16="http://schemas.microsoft.com/office/drawing/2014/main" val="20002"/>
                    </a:ext>
                  </a:extLst>
                </a:gridCol>
              </a:tblGrid>
              <a:tr h="588154">
                <a:tc>
                  <a:txBody>
                    <a:bodyPr/>
                    <a:lstStyle/>
                    <a:p>
                      <a:pPr marL="0" indent="0" algn="l">
                        <a:buNone/>
                      </a:pPr>
                      <a:r>
                        <a:rPr lang="en-US" sz="1050" kern="100" spc="126" dirty="0">
                          <a:solidFill>
                            <a:srgbClr val="DADADA"/>
                          </a:solidFill>
                          <a:latin typeface="Michroma" pitchFamily="34" charset="0"/>
                          <a:ea typeface="Michroma" pitchFamily="34" charset="-122"/>
                          <a:cs typeface="Michroma" pitchFamily="34" charset="-120"/>
                        </a:rPr>
                        <a:t>METHOD</a:t>
                      </a:r>
                      <a:endParaRPr lang="en-US" sz="1050" dirty="0">
                        <a:latin typeface="Michroma" charset="0"/>
                        <a:ea typeface="Michroma" charset="0"/>
                        <a:cs typeface="Michroma"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marL="0" indent="0" algn="l">
                        <a:buNone/>
                      </a:pPr>
                      <a:r>
                        <a:rPr lang="en-US" sz="1050" kern="100" spc="126" dirty="0">
                          <a:solidFill>
                            <a:srgbClr val="DADADA"/>
                          </a:solidFill>
                          <a:latin typeface="Michroma" pitchFamily="34" charset="0"/>
                          <a:ea typeface="Michroma" pitchFamily="34" charset="-122"/>
                          <a:cs typeface="Michroma" pitchFamily="34" charset="-120"/>
                        </a:rPr>
                        <a:t>WHAT IT GUARANTEES</a:t>
                      </a:r>
                      <a:endParaRPr lang="en-US" sz="1050" dirty="0">
                        <a:latin typeface="Michroma" charset="0"/>
                        <a:ea typeface="Michroma" charset="0"/>
                        <a:cs typeface="Michroma"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marL="0" indent="0" algn="l">
                        <a:buNone/>
                      </a:pPr>
                      <a:r>
                        <a:rPr lang="en-US" sz="1050" kern="100" spc="126" dirty="0">
                          <a:solidFill>
                            <a:srgbClr val="DADADA"/>
                          </a:solidFill>
                          <a:latin typeface="Michroma" pitchFamily="34" charset="0"/>
                          <a:ea typeface="Michroma" pitchFamily="34" charset="-122"/>
                          <a:cs typeface="Michroma" pitchFamily="34" charset="-120"/>
                        </a:rPr>
                        <a:t>COST PROFILE</a:t>
                      </a:r>
                      <a:endParaRPr lang="en-US" sz="1050" dirty="0">
                        <a:latin typeface="Michroma" charset="0"/>
                        <a:ea typeface="Michroma" charset="0"/>
                        <a:cs typeface="Michroma"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extLst>
                  <a:ext uri="{0D108BD9-81ED-4DB2-BD59-A6C34878D82A}">
                    <a16:rowId xmlns:a16="http://schemas.microsoft.com/office/drawing/2014/main" val="10000"/>
                  </a:ext>
                </a:extLst>
              </a:tr>
              <a:tr h="750472">
                <a:tc>
                  <a:txBody>
                    <a:bodyPr/>
                    <a:lstStyle/>
                    <a:p>
                      <a:pPr marL="0" indent="0" algn="l">
                        <a:buNone/>
                      </a:pPr>
                      <a:r>
                        <a:rPr lang="en-US" sz="1500" b="1" dirty="0">
                          <a:solidFill>
                            <a:srgbClr val="D5D5D5"/>
                          </a:solidFill>
                          <a:latin typeface="Exo" pitchFamily="34" charset="0"/>
                          <a:ea typeface="Exo" pitchFamily="34" charset="-122"/>
                          <a:cs typeface="Exo" pitchFamily="34" charset="-120"/>
                        </a:rPr>
                        <a:t>Brute force</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marL="0" indent="0" algn="l">
                        <a:buNone/>
                      </a:pPr>
                      <a:r>
                        <a:rPr lang="en-US" sz="1500" dirty="0">
                          <a:solidFill>
                            <a:srgbClr val="D5D5D5"/>
                          </a:solidFill>
                          <a:latin typeface="Exo" pitchFamily="34" charset="0"/>
                          <a:ea typeface="Exo" pitchFamily="34" charset="-122"/>
                          <a:cs typeface="Exo" pitchFamily="34" charset="-120"/>
                        </a:rPr>
                        <a:t>Exact optimum</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marL="0" indent="0" algn="l">
                        <a:buNone/>
                      </a:pPr>
                      <a:r>
                        <a:rPr lang="en-US" sz="1500" dirty="0">
                          <a:solidFill>
                            <a:srgbClr val="D5D5D5"/>
                          </a:solidFill>
                          <a:latin typeface="Exo" pitchFamily="34" charset="0"/>
                          <a:ea typeface="Exo" pitchFamily="34" charset="-122"/>
                          <a:cs typeface="Exo" pitchFamily="34" charset="-120"/>
                        </a:rPr>
                        <a:t>Θ((n−1)! · n) time after fixing A</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extLst>
                  <a:ext uri="{0D108BD9-81ED-4DB2-BD59-A6C34878D82A}">
                    <a16:rowId xmlns:a16="http://schemas.microsoft.com/office/drawing/2014/main" val="10001"/>
                  </a:ext>
                </a:extLst>
              </a:tr>
              <a:tr h="750472">
                <a:tc>
                  <a:txBody>
                    <a:bodyPr/>
                    <a:lstStyle/>
                    <a:p>
                      <a:pPr marL="0" indent="0" algn="l">
                        <a:buNone/>
                      </a:pPr>
                      <a:r>
                        <a:rPr lang="en-US" sz="1500" b="1" dirty="0">
                          <a:solidFill>
                            <a:srgbClr val="D5D5D5"/>
                          </a:solidFill>
                          <a:latin typeface="Exo" pitchFamily="34" charset="0"/>
                          <a:ea typeface="Exo" pitchFamily="34" charset="-122"/>
                          <a:cs typeface="Exo" pitchFamily="34" charset="-120"/>
                        </a:rPr>
                        <a:t>Branch and bound</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marL="0" indent="0" algn="l">
                        <a:buNone/>
                      </a:pPr>
                      <a:r>
                        <a:rPr lang="en-US" sz="1500" dirty="0">
                          <a:solidFill>
                            <a:srgbClr val="D5D5D5"/>
                          </a:solidFill>
                          <a:latin typeface="Exo" pitchFamily="34" charset="0"/>
                          <a:ea typeface="Exo" pitchFamily="34" charset="-122"/>
                          <a:cs typeface="Exo" pitchFamily="34" charset="-120"/>
                        </a:rPr>
                        <a:t>Exact optimum with valid pruning</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marL="0" indent="0" algn="l">
                        <a:buNone/>
                      </a:pPr>
                      <a:r>
                        <a:rPr lang="en-US" sz="1500" dirty="0">
                          <a:solidFill>
                            <a:srgbClr val="D5D5D5"/>
                          </a:solidFill>
                          <a:latin typeface="Exo" pitchFamily="34" charset="0"/>
                          <a:ea typeface="Exo" pitchFamily="34" charset="-122"/>
                          <a:cs typeface="Exo" pitchFamily="34" charset="-120"/>
                        </a:rPr>
                        <a:t>Worst case remains exponential/factorial</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extLst>
                  <a:ext uri="{0D108BD9-81ED-4DB2-BD59-A6C34878D82A}">
                    <a16:rowId xmlns:a16="http://schemas.microsoft.com/office/drawing/2014/main" val="10002"/>
                  </a:ext>
                </a:extLst>
              </a:tr>
              <a:tr h="1014586">
                <a:tc>
                  <a:txBody>
                    <a:bodyPr/>
                    <a:lstStyle/>
                    <a:p>
                      <a:pPr marL="0" indent="0" algn="l">
                        <a:buNone/>
                      </a:pPr>
                      <a:r>
                        <a:rPr lang="en-US" sz="1500" b="1" dirty="0">
                          <a:solidFill>
                            <a:srgbClr val="D5D5D5"/>
                          </a:solidFill>
                          <a:latin typeface="Exo" pitchFamily="34" charset="0"/>
                          <a:ea typeface="Exo" pitchFamily="34" charset="-122"/>
                          <a:cs typeface="Exo" pitchFamily="34" charset="-120"/>
                        </a:rPr>
                        <a:t>Important limit</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marL="0" indent="0" algn="l">
                        <a:buNone/>
                      </a:pPr>
                      <a:r>
                        <a:rPr lang="en-US" sz="1500" dirty="0">
                          <a:solidFill>
                            <a:srgbClr val="D5D5D5"/>
                          </a:solidFill>
                          <a:latin typeface="Exo" pitchFamily="34" charset="0"/>
                          <a:ea typeface="Exo" pitchFamily="34" charset="-122"/>
                          <a:cs typeface="Exo" pitchFamily="34" charset="-120"/>
                        </a:rPr>
                        <a:t>Exact ≠ polynomial</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marL="0" indent="0" algn="l">
                        <a:buNone/>
                      </a:pPr>
                      <a:r>
                        <a:rPr lang="en-US" sz="1500" dirty="0">
                          <a:solidFill>
                            <a:srgbClr val="D5D5D5"/>
                          </a:solidFill>
                          <a:latin typeface="Exo" pitchFamily="34" charset="0"/>
                          <a:ea typeface="Exo" pitchFamily="34" charset="-122"/>
                          <a:cs typeface="Exo" pitchFamily="34" charset="-120"/>
                        </a:rPr>
                        <a:t>No guaranteed polynomial-time performance</a:t>
                      </a:r>
                      <a:endParaRPr lang="en-US" sz="150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685783" y="6056352"/>
            <a:ext cx="6476838" cy="295870"/>
          </a:xfrm>
          <a:prstGeom prst="rect">
            <a:avLst/>
          </a:prstGeom>
          <a:noFill/>
          <a:ln/>
        </p:spPr>
        <p:txBody>
          <a:bodyPr wrap="square" lIns="0" tIns="101598" rIns="0" bIns="0" rtlCol="0" anchor="t">
            <a:normAutofit/>
          </a:bodyPr>
          <a:lstStyle/>
          <a:p>
            <a:pPr marL="0" indent="0" algn="l">
              <a:lnSpc>
                <a:spcPct val="108000"/>
              </a:lnSpc>
              <a:buNone/>
            </a:pPr>
            <a:r>
              <a:rPr lang="en-US" sz="1100" kern="100" spc="16" dirty="0">
                <a:solidFill>
                  <a:srgbClr val="9D9D9D"/>
                </a:solidFill>
                <a:latin typeface="Fira Mono Medium" pitchFamily="34" charset="0"/>
                <a:ea typeface="Fira Mono Medium" pitchFamily="34" charset="-122"/>
                <a:cs typeface="Fira Mono Medium" pitchFamily="34" charset="-120"/>
              </a:rPr>
              <a:t>BOUND QUALITY · CITY ORDERING · INSTANCE STRUCTURE</a:t>
            </a:r>
            <a:endParaRPr lang="en-US" sz="1100" dirty="0"/>
          </a:p>
        </p:txBody>
      </p:sp>
      <p:sp>
        <p:nvSpPr>
          <p:cNvPr id="7" name="Shape 4"/>
          <p:cNvSpPr/>
          <p:nvPr/>
        </p:nvSpPr>
        <p:spPr>
          <a:xfrm>
            <a:off x="7721407" y="0"/>
            <a:ext cx="4470288" cy="6858000"/>
          </a:xfrm>
          <a:prstGeom prst="rect">
            <a:avLst/>
          </a:prstGeom>
          <a:solidFill>
            <a:srgbClr val="0E1F40"/>
          </a:solidFill>
          <a:ln/>
        </p:spPr>
      </p:sp>
      <p:sp>
        <p:nvSpPr>
          <p:cNvPr id="8" name="Shape 5"/>
          <p:cNvSpPr/>
          <p:nvPr/>
        </p:nvSpPr>
        <p:spPr>
          <a:xfrm>
            <a:off x="8153196" y="533400"/>
            <a:ext cx="3116085" cy="304800"/>
          </a:xfrm>
          <a:prstGeom prst="roundRect">
            <a:avLst>
              <a:gd name="adj" fmla="val 3750"/>
            </a:avLst>
          </a:prstGeom>
          <a:solidFill>
            <a:srgbClr val="00364D"/>
          </a:solidFill>
          <a:ln/>
        </p:spPr>
      </p:sp>
      <p:sp>
        <p:nvSpPr>
          <p:cNvPr id="9" name="Text 6"/>
          <p:cNvSpPr/>
          <p:nvPr/>
        </p:nvSpPr>
        <p:spPr>
          <a:xfrm>
            <a:off x="8267493" y="614362"/>
            <a:ext cx="3497076" cy="190500"/>
          </a:xfrm>
          <a:prstGeom prst="rect">
            <a:avLst/>
          </a:prstGeom>
          <a:noFill/>
          <a:ln/>
        </p:spPr>
        <p:txBody>
          <a:bodyPr wrap="none" lIns="0" tIns="0" rIns="0" bIns="0" rtlCol="0" anchor="t"/>
          <a:lstStyle/>
          <a:p>
            <a:pPr marL="0" indent="0" algn="l">
              <a:lnSpc>
                <a:spcPct val="104000"/>
              </a:lnSpc>
              <a:buNone/>
            </a:pPr>
            <a:r>
              <a:rPr lang="en-US" sz="1200" kern="100" spc="192" dirty="0">
                <a:solidFill>
                  <a:srgbClr val="D5D5D5"/>
                </a:solidFill>
                <a:latin typeface="Michroma" pitchFamily="34" charset="0"/>
                <a:ea typeface="Michroma" pitchFamily="34" charset="-122"/>
                <a:cs typeface="Michroma" pitchFamily="34" charset="-120"/>
              </a:rPr>
              <a:t>WHERE TSP MATTERS</a:t>
            </a:r>
            <a:endParaRPr lang="en-US" sz="1200" dirty="0"/>
          </a:p>
        </p:txBody>
      </p:sp>
      <p:pic>
        <p:nvPicPr>
          <p:cNvPr id="10" name="Image 0" descr="preencoded.png"/>
          <p:cNvPicPr>
            <a:picLocks noChangeAspect="1"/>
          </p:cNvPicPr>
          <p:nvPr/>
        </p:nvPicPr>
        <p:blipFill>
          <a:blip r:embed="rId3"/>
          <a:stretch>
            <a:fillRect/>
          </a:stretch>
        </p:blipFill>
        <p:spPr>
          <a:xfrm>
            <a:off x="8178595" y="1015988"/>
            <a:ext cx="380990" cy="381000"/>
          </a:xfrm>
          <a:prstGeom prst="rect">
            <a:avLst/>
          </a:prstGeom>
        </p:spPr>
      </p:pic>
      <p:sp>
        <p:nvSpPr>
          <p:cNvPr id="5" name="Text 7"/>
          <p:cNvSpPr/>
          <p:nvPr/>
        </p:nvSpPr>
        <p:spPr>
          <a:xfrm>
            <a:off x="8762781" y="1017333"/>
            <a:ext cx="2997125"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Delivery logistics</a:t>
            </a:r>
            <a:endParaRPr lang="en-US" sz="1900" dirty="0"/>
          </a:p>
        </p:txBody>
      </p:sp>
      <p:pic>
        <p:nvPicPr>
          <p:cNvPr id="12" name="Image 1" descr="preencoded.png"/>
          <p:cNvPicPr>
            <a:picLocks noChangeAspect="1"/>
          </p:cNvPicPr>
          <p:nvPr/>
        </p:nvPicPr>
        <p:blipFill>
          <a:blip r:embed="rId4"/>
          <a:stretch>
            <a:fillRect/>
          </a:stretch>
        </p:blipFill>
        <p:spPr>
          <a:xfrm>
            <a:off x="8178595" y="2352366"/>
            <a:ext cx="380990" cy="381000"/>
          </a:xfrm>
          <a:prstGeom prst="rect">
            <a:avLst/>
          </a:prstGeom>
        </p:spPr>
      </p:pic>
      <p:sp>
        <p:nvSpPr>
          <p:cNvPr id="13" name="Text 8"/>
          <p:cNvSpPr/>
          <p:nvPr/>
        </p:nvSpPr>
        <p:spPr>
          <a:xfrm>
            <a:off x="8762781" y="2353711"/>
            <a:ext cx="2997125"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Manufacturing tool paths</a:t>
            </a:r>
            <a:endParaRPr lang="en-US" sz="1900" dirty="0"/>
          </a:p>
        </p:txBody>
      </p:sp>
      <p:pic>
        <p:nvPicPr>
          <p:cNvPr id="14" name="Image 2" descr="preencoded.png"/>
          <p:cNvPicPr>
            <a:picLocks noChangeAspect="1"/>
          </p:cNvPicPr>
          <p:nvPr/>
        </p:nvPicPr>
        <p:blipFill>
          <a:blip r:embed="rId5"/>
          <a:stretch>
            <a:fillRect/>
          </a:stretch>
        </p:blipFill>
        <p:spPr>
          <a:xfrm>
            <a:off x="8178595" y="3688743"/>
            <a:ext cx="380990" cy="381000"/>
          </a:xfrm>
          <a:prstGeom prst="rect">
            <a:avLst/>
          </a:prstGeom>
        </p:spPr>
      </p:pic>
      <p:sp>
        <p:nvSpPr>
          <p:cNvPr id="15" name="Text 9"/>
          <p:cNvSpPr/>
          <p:nvPr/>
        </p:nvSpPr>
        <p:spPr>
          <a:xfrm>
            <a:off x="8762781" y="3690088"/>
            <a:ext cx="2997125"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Circuit-board drilling</a:t>
            </a:r>
            <a:endParaRPr lang="en-US" sz="1900" dirty="0"/>
          </a:p>
        </p:txBody>
      </p:sp>
      <p:pic>
        <p:nvPicPr>
          <p:cNvPr id="16" name="Image 3" descr="preencoded.png"/>
          <p:cNvPicPr>
            <a:picLocks noChangeAspect="1"/>
          </p:cNvPicPr>
          <p:nvPr/>
        </p:nvPicPr>
        <p:blipFill>
          <a:blip r:embed="rId6"/>
          <a:stretch>
            <a:fillRect/>
          </a:stretch>
        </p:blipFill>
        <p:spPr>
          <a:xfrm>
            <a:off x="8178595" y="5025219"/>
            <a:ext cx="380990" cy="381000"/>
          </a:xfrm>
          <a:prstGeom prst="rect">
            <a:avLst/>
          </a:prstGeom>
        </p:spPr>
      </p:pic>
      <p:sp>
        <p:nvSpPr>
          <p:cNvPr id="17" name="Text 10"/>
          <p:cNvSpPr/>
          <p:nvPr/>
        </p:nvSpPr>
        <p:spPr>
          <a:xfrm>
            <a:off x="8762781" y="5026565"/>
            <a:ext cx="2997125" cy="636984"/>
          </a:xfrm>
          <a:prstGeom prst="rect">
            <a:avLst/>
          </a:prstGeom>
          <a:noFill/>
          <a:ln/>
        </p:spPr>
        <p:txBody>
          <a:bodyPr wrap="square" lIns="0" tIns="0" rIns="0" bIns="0" rtlCol="0" anchor="t">
            <a:normAutofit/>
          </a:bodyPr>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Inspection and service routing</a:t>
            </a:r>
            <a:endParaRPr lang="en-US" sz="1900" dirty="0"/>
          </a:p>
        </p:txBody>
      </p:sp>
      <p:sp>
        <p:nvSpPr>
          <p:cNvPr id="18" name="Text 11"/>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09585" y="2560566"/>
            <a:ext cx="10972526" cy="1002705"/>
          </a:xfrm>
          <a:prstGeom prst="rect">
            <a:avLst/>
          </a:prstGeom>
          <a:noFill/>
          <a:ln/>
        </p:spPr>
        <p:txBody>
          <a:bodyPr wrap="none" lIns="0" tIns="0" rIns="0" bIns="0" rtlCol="0" anchor="t"/>
          <a:lstStyle/>
          <a:p>
            <a:pPr marL="0" indent="0" algn="l">
              <a:lnSpc>
                <a:spcPct val="78000"/>
              </a:lnSpc>
              <a:buNone/>
            </a:pPr>
            <a:r>
              <a:rPr lang="en-US" sz="8400" b="1" kern="100" spc="-336" dirty="0">
                <a:solidFill>
                  <a:srgbClr val="ECECEC"/>
                </a:solidFill>
                <a:latin typeface="MuseoModerno Bold" pitchFamily="34" charset="0"/>
                <a:ea typeface="MuseoModerno Bold" pitchFamily="34" charset="-122"/>
                <a:cs typeface="MuseoModerno Bold" pitchFamily="34" charset="-120"/>
              </a:rPr>
              <a:t>Thank You</a:t>
            </a:r>
            <a:endParaRPr lang="en-US" sz="8400" dirty="0"/>
          </a:p>
        </p:txBody>
      </p:sp>
      <p:sp>
        <p:nvSpPr>
          <p:cNvPr id="3" name="Shape 1"/>
          <p:cNvSpPr/>
          <p:nvPr/>
        </p:nvSpPr>
        <p:spPr>
          <a:xfrm>
            <a:off x="609585" y="3685381"/>
            <a:ext cx="2743131" cy="31651"/>
          </a:xfrm>
          <a:prstGeom prst="roundRect">
            <a:avLst>
              <a:gd name="adj" fmla="val 49998"/>
            </a:avLst>
          </a:prstGeom>
          <a:solidFill>
            <a:srgbClr val="9BE1FF"/>
          </a:solidFill>
          <a:ln/>
        </p:spPr>
      </p:sp>
      <p:sp>
        <p:nvSpPr>
          <p:cNvPr id="4" name="Text 2"/>
          <p:cNvSpPr/>
          <p:nvPr/>
        </p:nvSpPr>
        <p:spPr>
          <a:xfrm>
            <a:off x="609585" y="4101052"/>
            <a:ext cx="10972526" cy="318492"/>
          </a:xfrm>
          <a:prstGeom prst="rect">
            <a:avLst/>
          </a:prstGeom>
          <a:noFill/>
          <a:ln/>
        </p:spPr>
        <p:txBody>
          <a:bodyPr wrap="none" lIns="0" tIns="0" rIns="0" bIns="0" rtlCol="0" anchor="t"/>
          <a:lstStyle/>
          <a:p>
            <a:pPr marL="0" indent="0" algn="l">
              <a:lnSpc>
                <a:spcPct val="110000"/>
              </a:lnSpc>
              <a:buNone/>
            </a:pPr>
            <a:r>
              <a:rPr lang="en-US" sz="1900" dirty="0">
                <a:solidFill>
                  <a:srgbClr val="D5D5D5"/>
                </a:solidFill>
                <a:latin typeface="Exo" pitchFamily="34" charset="0"/>
                <a:ea typeface="Exo" pitchFamily="34" charset="-122"/>
                <a:cs typeface="Exo" pitchFamily="34" charset="-120"/>
              </a:rPr>
              <a:t>Questions and discussion welcome</a:t>
            </a:r>
            <a:endParaRPr lang="en-US" sz="1900" dirty="0"/>
          </a:p>
        </p:txBody>
      </p:sp>
      <p:sp>
        <p:nvSpPr>
          <p:cNvPr id="5" name="Text 3"/>
          <p:cNvSpPr/>
          <p:nvPr/>
        </p:nvSpPr>
        <p:spPr>
          <a:xfrm>
            <a:off x="11819634" y="6458545"/>
            <a:ext cx="372061"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9D9D9D"/>
                </a:solidFill>
                <a:latin typeface="Fira Mono" pitchFamily="34" charset="0"/>
                <a:ea typeface="Fira Mono" pitchFamily="34" charset="-122"/>
                <a:cs typeface="Fira Mono" pitchFamily="34" charset="-120"/>
              </a:rPr>
              <a:t>11</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1319</Words>
  <Application>Microsoft Office PowerPoint</Application>
  <PresentationFormat>Widescreen</PresentationFormat>
  <Paragraphs>224</Paragraphs>
  <Slides>11</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Michroma</vt:lpstr>
      <vt:lpstr>MuseoModerno Bold</vt:lpstr>
      <vt:lpstr>Exo SemiBold</vt:lpstr>
      <vt:lpstr>Exo Bold</vt:lpstr>
      <vt:lpstr>Consolas</vt:lpstr>
      <vt:lpstr>Arial</vt:lpstr>
      <vt:lpstr>Exo</vt:lpstr>
      <vt:lpstr>Fira Mono</vt:lpstr>
      <vt:lpstr>Fira Mono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harshita kanwar</cp:lastModifiedBy>
  <cp:revision>5</cp:revision>
  <dcterms:created xsi:type="dcterms:W3CDTF">2026-10-17T19:13:23Z</dcterms:created>
  <dcterms:modified xsi:type="dcterms:W3CDTF">2026-10-19T14:33:00Z</dcterms:modified>
</cp:coreProperties>
</file>